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4630400" cy="8229600"/>
  <p:notesSz cx="8229600" cy="14630400"/>
  <p:embeddedFontLst>
    <p:embeddedFont>
      <p:font typeface="Open Sans" panose="020F0502020204030204" pitchFamily="34" charset="0"/>
      <p:regular r:id="rId19"/>
      <p:bold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9" d="100"/>
          <a:sy n="59" d="100"/>
        </p:scale>
        <p:origin x="49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660900" y="0"/>
            <a:ext cx="3567113" cy="733425"/>
          </a:xfrm>
          <a:prstGeom prst="rect">
            <a:avLst/>
          </a:prstGeom>
        </p:spPr>
        <p:txBody>
          <a:bodyPr vert="horz" lIns="91440" tIns="45720" rIns="91440" bIns="45720" rtlCol="0"/>
          <a:lstStyle>
            <a:lvl1pPr algn="r">
              <a:defRPr sz="1200"/>
            </a:lvl1pPr>
          </a:lstStyle>
          <a:p>
            <a:fld id="{EF617F8F-3718-4B47-B4AE-EDC19FA995D3}" type="datetimeFigureOut">
              <a:rPr lang="en-US" smtClean="0"/>
              <a:t>10/30/2025</a:t>
            </a:fld>
            <a:endParaRPr lang="en-US"/>
          </a:p>
        </p:txBody>
      </p:sp>
      <p:sp>
        <p:nvSpPr>
          <p:cNvPr id="4" name="Slide Image Placeholder 3"/>
          <p:cNvSpPr>
            <a:spLocks noGrp="1" noRot="1" noChangeAspect="1"/>
          </p:cNvSpPr>
          <p:nvPr>
            <p:ph type="sldImg" idx="2"/>
          </p:nvPr>
        </p:nvSpPr>
        <p:spPr>
          <a:xfrm>
            <a:off x="-273050" y="1828800"/>
            <a:ext cx="8775700" cy="49371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822325" y="7040563"/>
            <a:ext cx="6584950" cy="57610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3896975"/>
            <a:ext cx="3565525" cy="7334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660900" y="13896975"/>
            <a:ext cx="3567113" cy="733425"/>
          </a:xfrm>
          <a:prstGeom prst="rect">
            <a:avLst/>
          </a:prstGeom>
        </p:spPr>
        <p:txBody>
          <a:bodyPr vert="horz" lIns="91440" tIns="45720" rIns="91440" bIns="45720" rtlCol="0" anchor="b"/>
          <a:lstStyle>
            <a:lvl1pPr algn="r">
              <a:defRPr sz="1200"/>
            </a:lvl1pPr>
          </a:lstStyle>
          <a:p>
            <a:fld id="{609EB776-F32D-0841-B03B-476203B7DB97}" type="slidenum">
              <a:rPr lang="en-US" smtClean="0"/>
              <a:t>‹#›</a:t>
            </a:fld>
            <a:endParaRPr lang="en-US"/>
          </a:p>
        </p:txBody>
      </p:sp>
    </p:spTree>
    <p:extLst>
      <p:ext uri="{BB962C8B-B14F-4D97-AF65-F5344CB8AC3E}">
        <p14:creationId xmlns:p14="http://schemas.microsoft.com/office/powerpoint/2010/main" val="166924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2.sv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2.svg"/><Relationship Id="rId5" Type="http://schemas.openxmlformats.org/officeDocument/2006/relationships/image" Target="../media/image41.png"/><Relationship Id="rId10" Type="http://schemas.openxmlformats.org/officeDocument/2006/relationships/image" Target="../media/image46.svg"/><Relationship Id="rId4" Type="http://schemas.openxmlformats.org/officeDocument/2006/relationships/image" Target="../media/image40.svg"/><Relationship Id="rId9" Type="http://schemas.openxmlformats.org/officeDocument/2006/relationships/image" Target="../media/image45.png"/></Relationships>
</file>

<file path=ppt/slides/_rels/slide1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5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264795" y="1636395"/>
            <a:ext cx="4956810" cy="4956810"/>
          </a:xfrm>
          <a:prstGeom prst="rect">
            <a:avLst/>
          </a:prstGeom>
        </p:spPr>
      </p:pic>
      <p:sp>
        <p:nvSpPr>
          <p:cNvPr id="4" name="Text 0"/>
          <p:cNvSpPr/>
          <p:nvPr/>
        </p:nvSpPr>
        <p:spPr>
          <a:xfrm>
            <a:off x="6228040" y="583763"/>
            <a:ext cx="5297805" cy="662226"/>
          </a:xfrm>
          <a:prstGeom prst="rect">
            <a:avLst/>
          </a:prstGeom>
          <a:noFill/>
          <a:ln/>
        </p:spPr>
        <p:txBody>
          <a:bodyPr wrap="none" lIns="0" tIns="0" rIns="0" bIns="0" rtlCol="0" anchor="t"/>
          <a:lstStyle/>
          <a:p>
            <a:pPr marL="0" indent="0" algn="l">
              <a:lnSpc>
                <a:spcPts val="5200"/>
              </a:lnSpc>
              <a:buNone/>
            </a:pPr>
            <a:r>
              <a:rPr lang="en-US" sz="4150" b="1" dirty="0">
                <a:solidFill>
                  <a:srgbClr val="333F70"/>
                </a:solidFill>
                <a:latin typeface="Unbounded Bold" pitchFamily="34" charset="0"/>
                <a:ea typeface="Unbounded Bold" pitchFamily="34" charset="-122"/>
                <a:cs typeface="Unbounded Bold" pitchFamily="34" charset="-120"/>
              </a:rPr>
              <a:t>HushSense</a:t>
            </a:r>
            <a:endParaRPr lang="en-US" sz="4150" dirty="0"/>
          </a:p>
        </p:txBody>
      </p:sp>
      <p:sp>
        <p:nvSpPr>
          <p:cNvPr id="5" name="Text 1"/>
          <p:cNvSpPr/>
          <p:nvPr/>
        </p:nvSpPr>
        <p:spPr>
          <a:xfrm>
            <a:off x="6228040" y="1563767"/>
            <a:ext cx="7660719" cy="1017270"/>
          </a:xfrm>
          <a:prstGeom prst="rect">
            <a:avLst/>
          </a:prstGeom>
          <a:noFill/>
          <a:ln/>
        </p:spPr>
        <p:txBody>
          <a:bodyPr wrap="square" lIns="0" tIns="0" rIns="0" bIns="0" rtlCol="0" anchor="t"/>
          <a:lstStyle/>
          <a:p>
            <a:pPr marL="0" indent="0" algn="l">
              <a:lnSpc>
                <a:spcPts val="2650"/>
              </a:lnSpc>
              <a:buNone/>
            </a:pPr>
            <a:r>
              <a:rPr lang="en-US" sz="1650" dirty="0">
                <a:solidFill>
                  <a:srgbClr val="333F70"/>
                </a:solidFill>
                <a:latin typeface="Open Sans" pitchFamily="34" charset="0"/>
                <a:ea typeface="Open Sans" pitchFamily="34" charset="-122"/>
                <a:cs typeface="Open Sans" pitchFamily="34" charset="-120"/>
              </a:rPr>
              <a:t>Decentralizing Soundscape Health: We transform the global smartphone network into the world's most trusted, real-time noise pollution data layer for healthier cities.</a:t>
            </a:r>
            <a:endParaRPr lang="en-US" sz="1650" dirty="0"/>
          </a:p>
        </p:txBody>
      </p:sp>
      <p:sp>
        <p:nvSpPr>
          <p:cNvPr id="6" name="Text 2"/>
          <p:cNvSpPr/>
          <p:nvPr/>
        </p:nvSpPr>
        <p:spPr>
          <a:xfrm>
            <a:off x="6228040" y="2898815"/>
            <a:ext cx="4238268" cy="529828"/>
          </a:xfrm>
          <a:prstGeom prst="rect">
            <a:avLst/>
          </a:prstGeom>
          <a:noFill/>
          <a:ln/>
        </p:spPr>
        <p:txBody>
          <a:bodyPr wrap="none" lIns="0" tIns="0" rIns="0" bIns="0" rtlCol="0" anchor="t"/>
          <a:lstStyle/>
          <a:p>
            <a:pPr marL="0" indent="0" algn="l">
              <a:lnSpc>
                <a:spcPts val="4150"/>
              </a:lnSpc>
              <a:buNone/>
            </a:pPr>
            <a:r>
              <a:rPr lang="en-US" sz="3300" b="1" dirty="0">
                <a:solidFill>
                  <a:srgbClr val="333F70"/>
                </a:solidFill>
                <a:latin typeface="Unbounded Bold" pitchFamily="34" charset="0"/>
                <a:ea typeface="Unbounded Bold" pitchFamily="34" charset="-122"/>
                <a:cs typeface="Unbounded Bold" pitchFamily="34" charset="-120"/>
              </a:rPr>
              <a:t>Vision</a:t>
            </a:r>
            <a:endParaRPr lang="en-US" sz="3300" dirty="0"/>
          </a:p>
        </p:txBody>
      </p:sp>
      <p:sp>
        <p:nvSpPr>
          <p:cNvPr id="7" name="Text 3"/>
          <p:cNvSpPr/>
          <p:nvPr/>
        </p:nvSpPr>
        <p:spPr>
          <a:xfrm>
            <a:off x="6228040" y="3746421"/>
            <a:ext cx="7660719" cy="3051810"/>
          </a:xfrm>
          <a:prstGeom prst="rect">
            <a:avLst/>
          </a:prstGeom>
          <a:noFill/>
          <a:ln/>
        </p:spPr>
        <p:txBody>
          <a:bodyPr wrap="square" lIns="0" tIns="0" rIns="0" bIns="0" rtlCol="0" anchor="t"/>
          <a:lstStyle/>
          <a:p>
            <a:pPr marL="0" indent="0" algn="l">
              <a:lnSpc>
                <a:spcPts val="2650"/>
              </a:lnSpc>
              <a:buNone/>
            </a:pPr>
            <a:r>
              <a:rPr lang="en-US" sz="1650" dirty="0">
                <a:solidFill>
                  <a:srgbClr val="333F70"/>
                </a:solidFill>
                <a:latin typeface="Open Sans" pitchFamily="34" charset="0"/>
                <a:ea typeface="Open Sans" pitchFamily="34" charset="-122"/>
                <a:cs typeface="Open Sans" pitchFamily="34" charset="-120"/>
              </a:rPr>
              <a:t> A world where every city has comprehensive, real-time noise data that empowers citizens to find tranquility, helps businesses optimize their environments, and enables governments to create evidence-based policies for healthier urban living.Decentralizing Soundscape Health: We transform the global smartphone network into the world's most trusted, real-time noise pollution data layer for  healthier cities.</a:t>
            </a:r>
            <a:endParaRPr lang="en-US" sz="1650" dirty="0"/>
          </a:p>
        </p:txBody>
      </p:sp>
      <p:sp>
        <p:nvSpPr>
          <p:cNvPr id="8" name="Text 4"/>
          <p:cNvSpPr/>
          <p:nvPr/>
        </p:nvSpPr>
        <p:spPr>
          <a:xfrm>
            <a:off x="6228040" y="7116008"/>
            <a:ext cx="4564618" cy="529828"/>
          </a:xfrm>
          <a:prstGeom prst="rect">
            <a:avLst/>
          </a:prstGeom>
          <a:noFill/>
          <a:ln/>
        </p:spPr>
        <p:txBody>
          <a:bodyPr wrap="none" lIns="0" tIns="0" rIns="0" bIns="0" rtlCol="0" anchor="t"/>
          <a:lstStyle/>
          <a:p>
            <a:pPr marL="0" indent="0" algn="l">
              <a:lnSpc>
                <a:spcPts val="4150"/>
              </a:lnSpc>
              <a:buNone/>
            </a:pPr>
            <a:r>
              <a:rPr lang="en-US" sz="3300" b="1" dirty="0">
                <a:solidFill>
                  <a:srgbClr val="333F70"/>
                </a:solidFill>
                <a:latin typeface="Unbounded Bold" pitchFamily="34" charset="0"/>
                <a:ea typeface="Unbounded Bold" pitchFamily="34" charset="-122"/>
                <a:cs typeface="Unbounded Bold" pitchFamily="34" charset="-120"/>
              </a:rPr>
              <a:t>Team HushSense</a:t>
            </a:r>
            <a:endParaRPr lang="en-US" sz="3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20447" y="730329"/>
            <a:ext cx="5158621" cy="643295"/>
          </a:xfrm>
          <a:prstGeom prst="rect">
            <a:avLst/>
          </a:prstGeom>
          <a:noFill/>
          <a:ln/>
        </p:spPr>
        <p:txBody>
          <a:bodyPr wrap="none" lIns="0" tIns="0" rIns="0" bIns="0" rtlCol="0" anchor="t"/>
          <a:lstStyle/>
          <a:p>
            <a:pPr marL="0" indent="0" algn="l">
              <a:lnSpc>
                <a:spcPts val="5050"/>
              </a:lnSpc>
              <a:buNone/>
            </a:pPr>
            <a:r>
              <a:rPr lang="en-US" sz="4050" b="1" dirty="0">
                <a:solidFill>
                  <a:srgbClr val="333F70"/>
                </a:solidFill>
                <a:latin typeface="Unbounded Bold" pitchFamily="34" charset="0"/>
                <a:ea typeface="Unbounded Bold" pitchFamily="34" charset="-122"/>
                <a:cs typeface="Unbounded Bold" pitchFamily="34" charset="-120"/>
              </a:rPr>
              <a:t>The Silent Crisis</a:t>
            </a:r>
            <a:endParaRPr lang="en-US" sz="4050" dirty="0"/>
          </a:p>
        </p:txBody>
      </p:sp>
      <p:sp>
        <p:nvSpPr>
          <p:cNvPr id="3" name="Text 1"/>
          <p:cNvSpPr/>
          <p:nvPr/>
        </p:nvSpPr>
        <p:spPr>
          <a:xfrm>
            <a:off x="720447" y="1455896"/>
            <a:ext cx="10694908" cy="643176"/>
          </a:xfrm>
          <a:prstGeom prst="rect">
            <a:avLst/>
          </a:prstGeom>
          <a:noFill/>
          <a:ln/>
        </p:spPr>
        <p:txBody>
          <a:bodyPr wrap="square" lIns="0" tIns="0" rIns="0" bIns="0" rtlCol="0" anchor="t"/>
          <a:lstStyle/>
          <a:p>
            <a:pPr marL="0" indent="0" algn="l">
              <a:lnSpc>
                <a:spcPts val="2500"/>
              </a:lnSpc>
              <a:buNone/>
            </a:pPr>
            <a:r>
              <a:rPr lang="en-US" sz="2000" b="1" dirty="0">
                <a:solidFill>
                  <a:srgbClr val="333F70"/>
                </a:solidFill>
                <a:latin typeface="Unbounded Bold" pitchFamily="34" charset="0"/>
                <a:ea typeface="Unbounded Bold" pitchFamily="34" charset="-122"/>
                <a:cs typeface="Unbounded Bold" pitchFamily="34" charset="-120"/>
              </a:rPr>
              <a:t>The Silent Crisis: Unmonitored Noise Pollution in Global  Megacities</a:t>
            </a:r>
            <a:endParaRPr lang="en-US" sz="2000" dirty="0"/>
          </a:p>
        </p:txBody>
      </p:sp>
      <p:sp>
        <p:nvSpPr>
          <p:cNvPr id="4" name="Text 2"/>
          <p:cNvSpPr/>
          <p:nvPr/>
        </p:nvSpPr>
        <p:spPr>
          <a:xfrm>
            <a:off x="720447" y="2181344"/>
            <a:ext cx="9716214" cy="514588"/>
          </a:xfrm>
          <a:prstGeom prst="rect">
            <a:avLst/>
          </a:prstGeom>
          <a:noFill/>
          <a:ln/>
        </p:spPr>
        <p:txBody>
          <a:bodyPr wrap="none" lIns="0" tIns="0" rIns="0" bIns="0" rtlCol="0" anchor="t"/>
          <a:lstStyle/>
          <a:p>
            <a:pPr marL="0" indent="0" algn="l">
              <a:lnSpc>
                <a:spcPts val="4050"/>
              </a:lnSpc>
              <a:buNone/>
            </a:pPr>
            <a:r>
              <a:rPr lang="en-US" sz="3200" b="1" dirty="0">
                <a:solidFill>
                  <a:srgbClr val="333F70"/>
                </a:solidFill>
                <a:latin typeface="Unbounded Bold" pitchFamily="34" charset="0"/>
                <a:ea typeface="Unbounded Bold" pitchFamily="34" charset="-122"/>
                <a:cs typeface="Unbounded Bold" pitchFamily="34" charset="-120"/>
              </a:rPr>
              <a:t>Verifiable Challenge (African Context)</a:t>
            </a:r>
            <a:endParaRPr lang="en-US" sz="3200" dirty="0"/>
          </a:p>
        </p:txBody>
      </p:sp>
      <p:sp>
        <p:nvSpPr>
          <p:cNvPr id="5" name="Text 3"/>
          <p:cNvSpPr/>
          <p:nvPr/>
        </p:nvSpPr>
        <p:spPr>
          <a:xfrm>
            <a:off x="720447" y="3004661"/>
            <a:ext cx="13189506" cy="658654"/>
          </a:xfrm>
          <a:prstGeom prst="rect">
            <a:avLst/>
          </a:prstGeom>
          <a:noFill/>
          <a:ln/>
        </p:spPr>
        <p:txBody>
          <a:bodyPr wrap="square" lIns="0" tIns="0" rIns="0" bIns="0" rtlCol="0" anchor="t"/>
          <a:lstStyle/>
          <a:p>
            <a:pPr marL="0" indent="0" algn="l">
              <a:lnSpc>
                <a:spcPts val="2550"/>
              </a:lnSpc>
              <a:buNone/>
            </a:pPr>
            <a:r>
              <a:rPr lang="en-US" sz="1600" dirty="0">
                <a:solidFill>
                  <a:srgbClr val="333F70"/>
                </a:solidFill>
                <a:latin typeface="Open Sans" pitchFamily="34" charset="0"/>
                <a:ea typeface="Open Sans" pitchFamily="34" charset="-122"/>
                <a:cs typeface="Open Sans" pitchFamily="34" charset="-120"/>
              </a:rPr>
              <a:t>Rapid, unregulated urbanization in cities like Lagos and Nairobi means most areas lack formal noise monitoring. Governments have no granular, verifiable data to enforce dB standards, leaving millions exposed to chronic health risks.</a:t>
            </a:r>
            <a:endParaRPr lang="en-US" sz="1600" dirty="0"/>
          </a:p>
        </p:txBody>
      </p:sp>
      <p:sp>
        <p:nvSpPr>
          <p:cNvPr id="6" name="Text 4"/>
          <p:cNvSpPr/>
          <p:nvPr/>
        </p:nvSpPr>
        <p:spPr>
          <a:xfrm>
            <a:off x="720447" y="3997762"/>
            <a:ext cx="4224933" cy="679252"/>
          </a:xfrm>
          <a:prstGeom prst="rect">
            <a:avLst/>
          </a:prstGeom>
          <a:noFill/>
          <a:ln/>
        </p:spPr>
        <p:txBody>
          <a:bodyPr wrap="none" lIns="0" tIns="0" rIns="0" bIns="0" rtlCol="0" anchor="t"/>
          <a:lstStyle/>
          <a:p>
            <a:pPr marL="0" indent="0" algn="ctr">
              <a:lnSpc>
                <a:spcPts val="5300"/>
              </a:lnSpc>
              <a:buNone/>
            </a:pPr>
            <a:r>
              <a:rPr lang="en-US" sz="5300" b="1" dirty="0">
                <a:solidFill>
                  <a:srgbClr val="333F70"/>
                </a:solidFill>
                <a:latin typeface="Unbounded Bold" pitchFamily="34" charset="0"/>
                <a:ea typeface="Unbounded Bold" pitchFamily="34" charset="-122"/>
                <a:cs typeface="Unbounded Bold" pitchFamily="34" charset="-120"/>
              </a:rPr>
              <a:t>$40B+</a:t>
            </a:r>
            <a:endParaRPr lang="en-US" sz="5300" dirty="0"/>
          </a:p>
        </p:txBody>
      </p:sp>
      <p:sp>
        <p:nvSpPr>
          <p:cNvPr id="7" name="Text 5"/>
          <p:cNvSpPr/>
          <p:nvPr/>
        </p:nvSpPr>
        <p:spPr>
          <a:xfrm>
            <a:off x="1007031" y="4934188"/>
            <a:ext cx="3651647" cy="321588"/>
          </a:xfrm>
          <a:prstGeom prst="rect">
            <a:avLst/>
          </a:prstGeom>
          <a:noFill/>
          <a:ln/>
        </p:spPr>
        <p:txBody>
          <a:bodyPr wrap="none" lIns="0" tIns="0" rIns="0" bIns="0" rtlCol="0" anchor="t"/>
          <a:lstStyle/>
          <a:p>
            <a:pPr marL="0" indent="0" algn="ctr">
              <a:lnSpc>
                <a:spcPts val="2500"/>
              </a:lnSpc>
              <a:buNone/>
            </a:pPr>
            <a:r>
              <a:rPr lang="en-US" sz="2000" b="1" dirty="0">
                <a:solidFill>
                  <a:srgbClr val="333F70"/>
                </a:solidFill>
                <a:latin typeface="Unbounded Bold" pitchFamily="34" charset="0"/>
                <a:ea typeface="Unbounded Bold" pitchFamily="34" charset="-122"/>
                <a:cs typeface="Unbounded Bold" pitchFamily="34" charset="-120"/>
              </a:rPr>
              <a:t>Annual Economic Cost</a:t>
            </a:r>
            <a:endParaRPr lang="en-US" sz="2000" dirty="0"/>
          </a:p>
        </p:txBody>
      </p:sp>
      <p:sp>
        <p:nvSpPr>
          <p:cNvPr id="8" name="Text 6"/>
          <p:cNvSpPr/>
          <p:nvPr/>
        </p:nvSpPr>
        <p:spPr>
          <a:xfrm>
            <a:off x="720447" y="5379244"/>
            <a:ext cx="4224933" cy="329327"/>
          </a:xfrm>
          <a:prstGeom prst="rect">
            <a:avLst/>
          </a:prstGeom>
          <a:noFill/>
          <a:ln/>
        </p:spPr>
        <p:txBody>
          <a:bodyPr wrap="none" lIns="0" tIns="0" rIns="0" bIns="0" rtlCol="0" anchor="t"/>
          <a:lstStyle/>
          <a:p>
            <a:pPr marL="0" indent="0" algn="ctr">
              <a:lnSpc>
                <a:spcPts val="2550"/>
              </a:lnSpc>
              <a:buNone/>
            </a:pPr>
            <a:r>
              <a:rPr lang="en-US" sz="1600" dirty="0">
                <a:solidFill>
                  <a:srgbClr val="333F70"/>
                </a:solidFill>
                <a:latin typeface="Open Sans" pitchFamily="34" charset="0"/>
                <a:ea typeface="Open Sans" pitchFamily="34" charset="-122"/>
                <a:cs typeface="Open Sans" pitchFamily="34" charset="-120"/>
              </a:rPr>
              <a:t>Global cost of noise pollution</a:t>
            </a:r>
            <a:endParaRPr lang="en-US" sz="1600" dirty="0"/>
          </a:p>
        </p:txBody>
      </p:sp>
      <p:sp>
        <p:nvSpPr>
          <p:cNvPr id="9" name="Text 7"/>
          <p:cNvSpPr/>
          <p:nvPr/>
        </p:nvSpPr>
        <p:spPr>
          <a:xfrm>
            <a:off x="5202674" y="3997762"/>
            <a:ext cx="4224933" cy="679252"/>
          </a:xfrm>
          <a:prstGeom prst="rect">
            <a:avLst/>
          </a:prstGeom>
          <a:noFill/>
          <a:ln/>
        </p:spPr>
        <p:txBody>
          <a:bodyPr wrap="none" lIns="0" tIns="0" rIns="0" bIns="0" rtlCol="0" anchor="t"/>
          <a:lstStyle/>
          <a:p>
            <a:pPr marL="0" indent="0" algn="ctr">
              <a:lnSpc>
                <a:spcPts val="5300"/>
              </a:lnSpc>
              <a:buNone/>
            </a:pPr>
            <a:r>
              <a:rPr lang="en-US" sz="5300" b="1" dirty="0">
                <a:solidFill>
                  <a:srgbClr val="333F70"/>
                </a:solidFill>
                <a:latin typeface="Unbounded Bold" pitchFamily="34" charset="0"/>
                <a:ea typeface="Unbounded Bold" pitchFamily="34" charset="-122"/>
                <a:cs typeface="Unbounded Bold" pitchFamily="34" charset="-120"/>
              </a:rPr>
              <a:t>1.6B</a:t>
            </a:r>
            <a:endParaRPr lang="en-US" sz="5300" dirty="0"/>
          </a:p>
        </p:txBody>
      </p:sp>
      <p:sp>
        <p:nvSpPr>
          <p:cNvPr id="10" name="Text 8"/>
          <p:cNvSpPr/>
          <p:nvPr/>
        </p:nvSpPr>
        <p:spPr>
          <a:xfrm>
            <a:off x="6016228" y="4934188"/>
            <a:ext cx="2597825" cy="321588"/>
          </a:xfrm>
          <a:prstGeom prst="rect">
            <a:avLst/>
          </a:prstGeom>
          <a:noFill/>
          <a:ln/>
        </p:spPr>
        <p:txBody>
          <a:bodyPr wrap="none" lIns="0" tIns="0" rIns="0" bIns="0" rtlCol="0" anchor="t"/>
          <a:lstStyle/>
          <a:p>
            <a:pPr marL="0" indent="0" algn="ctr">
              <a:lnSpc>
                <a:spcPts val="2500"/>
              </a:lnSpc>
              <a:buNone/>
            </a:pPr>
            <a:r>
              <a:rPr lang="en-US" sz="2000" b="1" dirty="0">
                <a:solidFill>
                  <a:srgbClr val="333F70"/>
                </a:solidFill>
                <a:latin typeface="Unbounded Bold" pitchFamily="34" charset="0"/>
                <a:ea typeface="Unbounded Bold" pitchFamily="34" charset="-122"/>
                <a:cs typeface="Unbounded Bold" pitchFamily="34" charset="-120"/>
              </a:rPr>
              <a:t>People Affected</a:t>
            </a:r>
            <a:endParaRPr lang="en-US" sz="2000" dirty="0"/>
          </a:p>
        </p:txBody>
      </p:sp>
      <p:sp>
        <p:nvSpPr>
          <p:cNvPr id="11" name="Text 9"/>
          <p:cNvSpPr/>
          <p:nvPr/>
        </p:nvSpPr>
        <p:spPr>
          <a:xfrm>
            <a:off x="5202674" y="5379244"/>
            <a:ext cx="4224933" cy="329327"/>
          </a:xfrm>
          <a:prstGeom prst="rect">
            <a:avLst/>
          </a:prstGeom>
          <a:noFill/>
          <a:ln/>
        </p:spPr>
        <p:txBody>
          <a:bodyPr wrap="none" lIns="0" tIns="0" rIns="0" bIns="0" rtlCol="0" anchor="t"/>
          <a:lstStyle/>
          <a:p>
            <a:pPr marL="0" indent="0" algn="ctr">
              <a:lnSpc>
                <a:spcPts val="2550"/>
              </a:lnSpc>
              <a:buNone/>
            </a:pPr>
            <a:r>
              <a:rPr lang="en-US" sz="1600" dirty="0">
                <a:solidFill>
                  <a:srgbClr val="333F70"/>
                </a:solidFill>
                <a:latin typeface="Open Sans" pitchFamily="34" charset="0"/>
                <a:ea typeface="Open Sans" pitchFamily="34" charset="-122"/>
                <a:cs typeface="Open Sans" pitchFamily="34" charset="-120"/>
              </a:rPr>
              <a:t>Exposed to harmful noise levels</a:t>
            </a:r>
            <a:endParaRPr lang="en-US" sz="1600" dirty="0"/>
          </a:p>
        </p:txBody>
      </p:sp>
      <p:sp>
        <p:nvSpPr>
          <p:cNvPr id="12" name="Text 10"/>
          <p:cNvSpPr/>
          <p:nvPr/>
        </p:nvSpPr>
        <p:spPr>
          <a:xfrm>
            <a:off x="9684901" y="3997762"/>
            <a:ext cx="4224933" cy="679252"/>
          </a:xfrm>
          <a:prstGeom prst="rect">
            <a:avLst/>
          </a:prstGeom>
          <a:noFill/>
          <a:ln/>
        </p:spPr>
        <p:txBody>
          <a:bodyPr wrap="none" lIns="0" tIns="0" rIns="0" bIns="0" rtlCol="0" anchor="t"/>
          <a:lstStyle/>
          <a:p>
            <a:pPr marL="0" indent="0" algn="ctr">
              <a:lnSpc>
                <a:spcPts val="5300"/>
              </a:lnSpc>
              <a:buNone/>
            </a:pPr>
            <a:r>
              <a:rPr lang="en-US" sz="5300" b="1" dirty="0">
                <a:solidFill>
                  <a:srgbClr val="333F70"/>
                </a:solidFill>
                <a:latin typeface="Unbounded Bold" pitchFamily="34" charset="0"/>
                <a:ea typeface="Unbounded Bold" pitchFamily="34" charset="-122"/>
                <a:cs typeface="Unbounded Bold" pitchFamily="34" charset="-120"/>
              </a:rPr>
              <a:t>70%</a:t>
            </a:r>
            <a:endParaRPr lang="en-US" sz="5300" dirty="0"/>
          </a:p>
        </p:txBody>
      </p:sp>
      <p:sp>
        <p:nvSpPr>
          <p:cNvPr id="13" name="Text 11"/>
          <p:cNvSpPr/>
          <p:nvPr/>
        </p:nvSpPr>
        <p:spPr>
          <a:xfrm>
            <a:off x="10510718" y="4934188"/>
            <a:ext cx="2573179" cy="321588"/>
          </a:xfrm>
          <a:prstGeom prst="rect">
            <a:avLst/>
          </a:prstGeom>
          <a:noFill/>
          <a:ln/>
        </p:spPr>
        <p:txBody>
          <a:bodyPr wrap="none" lIns="0" tIns="0" rIns="0" bIns="0" rtlCol="0" anchor="t"/>
          <a:lstStyle/>
          <a:p>
            <a:pPr marL="0" indent="0" algn="ctr">
              <a:lnSpc>
                <a:spcPts val="2500"/>
              </a:lnSpc>
              <a:buNone/>
            </a:pPr>
            <a:r>
              <a:rPr lang="en-US" sz="2000" b="1" dirty="0">
                <a:solidFill>
                  <a:srgbClr val="333F70"/>
                </a:solidFill>
                <a:latin typeface="Unbounded Bold" pitchFamily="34" charset="0"/>
                <a:ea typeface="Unbounded Bold" pitchFamily="34" charset="-122"/>
                <a:cs typeface="Unbounded Bold" pitchFamily="34" charset="-120"/>
              </a:rPr>
              <a:t>Missing Data</a:t>
            </a:r>
            <a:endParaRPr lang="en-US" sz="2000" dirty="0"/>
          </a:p>
        </p:txBody>
      </p:sp>
      <p:sp>
        <p:nvSpPr>
          <p:cNvPr id="14" name="Text 12"/>
          <p:cNvSpPr/>
          <p:nvPr/>
        </p:nvSpPr>
        <p:spPr>
          <a:xfrm>
            <a:off x="9684901" y="5379244"/>
            <a:ext cx="4224933" cy="329327"/>
          </a:xfrm>
          <a:prstGeom prst="rect">
            <a:avLst/>
          </a:prstGeom>
          <a:noFill/>
          <a:ln/>
        </p:spPr>
        <p:txBody>
          <a:bodyPr wrap="none" lIns="0" tIns="0" rIns="0" bIns="0" rtlCol="0" anchor="t"/>
          <a:lstStyle/>
          <a:p>
            <a:pPr marL="0" indent="0" algn="ctr">
              <a:lnSpc>
                <a:spcPts val="2550"/>
              </a:lnSpc>
              <a:buNone/>
            </a:pPr>
            <a:r>
              <a:rPr lang="en-US" sz="1600" dirty="0">
                <a:solidFill>
                  <a:srgbClr val="333F70"/>
                </a:solidFill>
                <a:latin typeface="Open Sans" pitchFamily="34" charset="0"/>
                <a:ea typeface="Open Sans" pitchFamily="34" charset="-122"/>
                <a:cs typeface="Open Sans" pitchFamily="34" charset="-120"/>
              </a:rPr>
              <a:t>Urban soundscape data outdated or absent</a:t>
            </a:r>
            <a:endParaRPr lang="en-US" sz="1600" dirty="0"/>
          </a:p>
        </p:txBody>
      </p:sp>
      <p:sp>
        <p:nvSpPr>
          <p:cNvPr id="15" name="Text 13"/>
          <p:cNvSpPr/>
          <p:nvPr/>
        </p:nvSpPr>
        <p:spPr>
          <a:xfrm>
            <a:off x="720447" y="6017300"/>
            <a:ext cx="4413171" cy="514588"/>
          </a:xfrm>
          <a:prstGeom prst="rect">
            <a:avLst/>
          </a:prstGeom>
          <a:noFill/>
          <a:ln/>
        </p:spPr>
        <p:txBody>
          <a:bodyPr wrap="none" lIns="0" tIns="0" rIns="0" bIns="0" rtlCol="0" anchor="t"/>
          <a:lstStyle/>
          <a:p>
            <a:pPr marL="0" indent="0" algn="l">
              <a:lnSpc>
                <a:spcPts val="4050"/>
              </a:lnSpc>
              <a:buNone/>
            </a:pPr>
            <a:r>
              <a:rPr lang="en-US" sz="3200" b="1" dirty="0">
                <a:solidFill>
                  <a:srgbClr val="333F70"/>
                </a:solidFill>
                <a:latin typeface="Unbounded Bold" pitchFamily="34" charset="0"/>
                <a:ea typeface="Unbounded Bold" pitchFamily="34" charset="-122"/>
                <a:cs typeface="Unbounded Bold" pitchFamily="34" charset="-120"/>
              </a:rPr>
              <a:t>Why Unsolvable?</a:t>
            </a:r>
            <a:endParaRPr lang="en-US" sz="3200" dirty="0"/>
          </a:p>
        </p:txBody>
      </p:sp>
      <p:sp>
        <p:nvSpPr>
          <p:cNvPr id="16" name="Text 14"/>
          <p:cNvSpPr/>
          <p:nvPr/>
        </p:nvSpPr>
        <p:spPr>
          <a:xfrm>
            <a:off x="720447" y="6840617"/>
            <a:ext cx="13189506" cy="658654"/>
          </a:xfrm>
          <a:prstGeom prst="rect">
            <a:avLst/>
          </a:prstGeom>
          <a:noFill/>
          <a:ln/>
        </p:spPr>
        <p:txBody>
          <a:bodyPr wrap="square" lIns="0" tIns="0" rIns="0" bIns="0" rtlCol="0" anchor="t"/>
          <a:lstStyle/>
          <a:p>
            <a:pPr marL="0" indent="0" algn="l">
              <a:lnSpc>
                <a:spcPts val="2550"/>
              </a:lnSpc>
              <a:buNone/>
            </a:pPr>
            <a:r>
              <a:rPr lang="en-US" sz="1600" dirty="0">
                <a:solidFill>
                  <a:srgbClr val="333F70"/>
                </a:solidFill>
                <a:latin typeface="Open Sans" pitchFamily="34" charset="0"/>
                <a:ea typeface="Open Sans" pitchFamily="34" charset="-122"/>
                <a:cs typeface="Open Sans" pitchFamily="34" charset="-120"/>
              </a:rPr>
              <a:t>Traditional monitoring relies on expensive, fixed sensors ($10,000+), making comprehensive, block-level coverage impossible for budget-constrained municipalities.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80098" y="612934"/>
            <a:ext cx="12532876" cy="696516"/>
          </a:xfrm>
          <a:prstGeom prst="rect">
            <a:avLst/>
          </a:prstGeom>
          <a:noFill/>
          <a:ln/>
        </p:spPr>
        <p:txBody>
          <a:bodyPr wrap="none" lIns="0" tIns="0" rIns="0" bIns="0" rtlCol="0" anchor="t"/>
          <a:lstStyle/>
          <a:p>
            <a:pPr marL="0" indent="0" algn="l">
              <a:lnSpc>
                <a:spcPts val="5450"/>
              </a:lnSpc>
              <a:buNone/>
            </a:pPr>
            <a:r>
              <a:rPr lang="en-US" sz="4350" b="1" dirty="0">
                <a:solidFill>
                  <a:srgbClr val="333F70"/>
                </a:solidFill>
                <a:latin typeface="Unbounded Bold" pitchFamily="34" charset="0"/>
                <a:ea typeface="Unbounded Bold" pitchFamily="34" charset="-122"/>
                <a:cs typeface="Unbounded Bold" pitchFamily="34" charset="-120"/>
              </a:rPr>
              <a:t>Everyday Noise, Undetected Impact</a:t>
            </a:r>
            <a:endParaRPr lang="en-US" sz="4350" dirty="0"/>
          </a:p>
        </p:txBody>
      </p:sp>
      <p:sp>
        <p:nvSpPr>
          <p:cNvPr id="3" name="Text 1"/>
          <p:cNvSpPr/>
          <p:nvPr/>
        </p:nvSpPr>
        <p:spPr>
          <a:xfrm>
            <a:off x="780098" y="1844278"/>
            <a:ext cx="6943844" cy="3565922"/>
          </a:xfrm>
          <a:prstGeom prst="rect">
            <a:avLst/>
          </a:prstGeom>
          <a:noFill/>
          <a:ln/>
        </p:spPr>
        <p:txBody>
          <a:bodyPr wrap="square" lIns="0" tIns="0" rIns="0" bIns="0" rtlCol="0" anchor="t"/>
          <a:lstStyle/>
          <a:p>
            <a:pPr marL="0" indent="0" algn="l">
              <a:lnSpc>
                <a:spcPts val="2800"/>
              </a:lnSpc>
              <a:buNone/>
            </a:pPr>
            <a:r>
              <a:rPr lang="en-US" sz="1750" dirty="0">
                <a:solidFill>
                  <a:srgbClr val="333F70"/>
                </a:solidFill>
                <a:latin typeface="Open Sans" pitchFamily="34" charset="0"/>
                <a:ea typeface="Open Sans" pitchFamily="34" charset="-122"/>
                <a:cs typeface="Open Sans" pitchFamily="34" charset="-120"/>
              </a:rPr>
              <a:t>We've all experienced it: trying to focus in a noisy café, or being disturbed by street sounds at night. The constant drone of construction, loud neighbors, or traffic often goes unaddressed because </a:t>
            </a:r>
            <a:r>
              <a:rPr lang="en-US" sz="1750" b="1" dirty="0">
                <a:solidFill>
                  <a:srgbClr val="333F70"/>
                </a:solidFill>
                <a:latin typeface="Open Sans" pitchFamily="34" charset="0"/>
                <a:ea typeface="Open Sans" pitchFamily="34" charset="-122"/>
                <a:cs typeface="Open Sans" pitchFamily="34" charset="-120"/>
              </a:rPr>
              <a:t>there's no easy way to quantify or report it</a:t>
            </a:r>
            <a:r>
              <a:rPr lang="en-US" sz="1750" dirty="0">
                <a:solidFill>
                  <a:srgbClr val="333F70"/>
                </a:solidFill>
                <a:latin typeface="Open Sans" pitchFamily="34" charset="0"/>
                <a:ea typeface="Open Sans" pitchFamily="34" charset="-122"/>
                <a:cs typeface="Open Sans" pitchFamily="34" charset="-120"/>
              </a:rPr>
              <a:t>.You're studying for an exam, but the music from the bar next door </a:t>
            </a:r>
            <a:r>
              <a:rPr lang="en-US" sz="1750" b="1" dirty="0">
                <a:solidFill>
                  <a:srgbClr val="333F70"/>
                </a:solidFill>
                <a:latin typeface="Open Sans" pitchFamily="34" charset="0"/>
                <a:ea typeface="Open Sans" pitchFamily="34" charset="-122"/>
                <a:cs typeface="Open Sans" pitchFamily="34" charset="-120"/>
              </a:rPr>
              <a:t>makes concentration impossible</a:t>
            </a:r>
            <a:r>
              <a:rPr lang="en-US" sz="1750" dirty="0">
                <a:solidFill>
                  <a:srgbClr val="333F70"/>
                </a:solidFill>
                <a:latin typeface="Open Sans" pitchFamily="34" charset="0"/>
                <a:ea typeface="Open Sans" pitchFamily="34" charset="-122"/>
                <a:cs typeface="Open Sans" pitchFamily="34" charset="-120"/>
              </a:rPr>
              <a:t>.You move into a new apartment that seemed quiet during the viewing, but turns into a </a:t>
            </a:r>
            <a:r>
              <a:rPr lang="en-US" sz="1750" b="1" dirty="0">
                <a:solidFill>
                  <a:srgbClr val="333F70"/>
                </a:solidFill>
                <a:latin typeface="Open Sans" pitchFamily="34" charset="0"/>
                <a:ea typeface="Open Sans" pitchFamily="34" charset="-122"/>
                <a:cs typeface="Open Sans" pitchFamily="34" charset="-120"/>
              </a:rPr>
              <a:t>noise trap at night</a:t>
            </a:r>
            <a:r>
              <a:rPr lang="en-US" sz="1750" dirty="0">
                <a:solidFill>
                  <a:srgbClr val="333F70"/>
                </a:solidFill>
                <a:latin typeface="Open Sans" pitchFamily="34" charset="0"/>
                <a:ea typeface="Open Sans" pitchFamily="34" charset="-122"/>
                <a:cs typeface="Open Sans" pitchFamily="34" charset="-120"/>
              </a:rPr>
              <a:t>.</a:t>
            </a:r>
            <a:endParaRPr lang="en-US" sz="1750" dirty="0"/>
          </a:p>
        </p:txBody>
      </p:sp>
      <p:sp>
        <p:nvSpPr>
          <p:cNvPr id="4" name="Text 2"/>
          <p:cNvSpPr/>
          <p:nvPr/>
        </p:nvSpPr>
        <p:spPr>
          <a:xfrm>
            <a:off x="780098" y="5610701"/>
            <a:ext cx="6943844" cy="1069777"/>
          </a:xfrm>
          <a:prstGeom prst="rect">
            <a:avLst/>
          </a:prstGeom>
          <a:noFill/>
          <a:ln/>
        </p:spPr>
        <p:txBody>
          <a:bodyPr wrap="square" lIns="0" tIns="0" rIns="0" bIns="0" rtlCol="0" anchor="t"/>
          <a:lstStyle/>
          <a:p>
            <a:pPr marL="0" indent="0" algn="l">
              <a:lnSpc>
                <a:spcPts val="2800"/>
              </a:lnSpc>
              <a:buNone/>
            </a:pPr>
            <a:r>
              <a:rPr lang="en-US" sz="1750" dirty="0">
                <a:solidFill>
                  <a:srgbClr val="333F70"/>
                </a:solidFill>
                <a:latin typeface="Open Sans" pitchFamily="34" charset="0"/>
                <a:ea typeface="Open Sans" pitchFamily="34" charset="-122"/>
                <a:cs typeface="Open Sans" pitchFamily="34" charset="-120"/>
              </a:rPr>
              <a:t>These daily frustrations highlight a critical issue: pervasive noise pollution, silently eroding our well-being, yet we lack the verifiable data to understand its true extent or take effective action.</a:t>
            </a:r>
            <a:endParaRPr lang="en-US" sz="1750" dirty="0"/>
          </a:p>
        </p:txBody>
      </p:sp>
      <p:pic>
        <p:nvPicPr>
          <p:cNvPr id="5" name="Image 0" descr="preencoded.png"/>
          <p:cNvPicPr>
            <a:picLocks noChangeAspect="1"/>
          </p:cNvPicPr>
          <p:nvPr/>
        </p:nvPicPr>
        <p:blipFill>
          <a:blip r:embed="rId3"/>
          <a:stretch>
            <a:fillRect/>
          </a:stretch>
        </p:blipFill>
        <p:spPr>
          <a:xfrm>
            <a:off x="8275439" y="1894523"/>
            <a:ext cx="5582364" cy="55823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10150673" y="255746"/>
            <a:ext cx="3473053" cy="7718108"/>
          </a:xfrm>
          <a:prstGeom prst="rect">
            <a:avLst/>
          </a:prstGeom>
        </p:spPr>
      </p:pic>
      <p:sp>
        <p:nvSpPr>
          <p:cNvPr id="4" name="Text 0"/>
          <p:cNvSpPr/>
          <p:nvPr/>
        </p:nvSpPr>
        <p:spPr>
          <a:xfrm>
            <a:off x="716042" y="653058"/>
            <a:ext cx="7711916" cy="1918097"/>
          </a:xfrm>
          <a:prstGeom prst="rect">
            <a:avLst/>
          </a:prstGeom>
          <a:noFill/>
          <a:ln/>
        </p:spPr>
        <p:txBody>
          <a:bodyPr wrap="square" lIns="0" tIns="0" rIns="0" bIns="0" rtlCol="0" anchor="t"/>
          <a:lstStyle/>
          <a:p>
            <a:pPr marL="0" indent="0" algn="l">
              <a:lnSpc>
                <a:spcPts val="5000"/>
              </a:lnSpc>
              <a:buNone/>
            </a:pPr>
            <a:r>
              <a:rPr lang="en-US" sz="4000" b="1" dirty="0">
                <a:solidFill>
                  <a:srgbClr val="333F70"/>
                </a:solidFill>
                <a:latin typeface="Unbounded Bold" pitchFamily="34" charset="0"/>
                <a:ea typeface="Unbounded Bold" pitchFamily="34" charset="-122"/>
                <a:cs typeface="Unbounded Bold" pitchFamily="34" charset="-120"/>
              </a:rPr>
              <a:t>HushSense: Global Real-Time Noise Pollution Map</a:t>
            </a:r>
            <a:endParaRPr lang="en-US" sz="4000" dirty="0"/>
          </a:p>
        </p:txBody>
      </p:sp>
      <p:sp>
        <p:nvSpPr>
          <p:cNvPr id="5" name="Text 1"/>
          <p:cNvSpPr/>
          <p:nvPr/>
        </p:nvSpPr>
        <p:spPr>
          <a:xfrm>
            <a:off x="716042" y="3082528"/>
            <a:ext cx="2557582" cy="319683"/>
          </a:xfrm>
          <a:prstGeom prst="rect">
            <a:avLst/>
          </a:prstGeom>
          <a:noFill/>
          <a:ln/>
        </p:spPr>
        <p:txBody>
          <a:bodyPr wrap="none" lIns="0" tIns="0" rIns="0" bIns="0" rtlCol="0" anchor="t"/>
          <a:lstStyle/>
          <a:p>
            <a:pPr marL="0" indent="0" algn="l">
              <a:lnSpc>
                <a:spcPts val="2500"/>
              </a:lnSpc>
              <a:buNone/>
            </a:pPr>
            <a:r>
              <a:rPr lang="en-US" sz="2000" b="1" dirty="0">
                <a:solidFill>
                  <a:srgbClr val="333F70"/>
                </a:solidFill>
                <a:latin typeface="Unbounded Bold" pitchFamily="34" charset="0"/>
                <a:ea typeface="Unbounded Bold" pitchFamily="34" charset="-122"/>
                <a:cs typeface="Unbounded Bold" pitchFamily="34" charset="-120"/>
              </a:rPr>
              <a:t>The Solution</a:t>
            </a:r>
            <a:endParaRPr lang="en-US" sz="2000" dirty="0"/>
          </a:p>
        </p:txBody>
      </p:sp>
      <p:sp>
        <p:nvSpPr>
          <p:cNvPr id="6" name="Text 2"/>
          <p:cNvSpPr/>
          <p:nvPr/>
        </p:nvSpPr>
        <p:spPr>
          <a:xfrm>
            <a:off x="716042" y="3606760"/>
            <a:ext cx="3606403" cy="1964531"/>
          </a:xfrm>
          <a:prstGeom prst="rect">
            <a:avLst/>
          </a:prstGeom>
          <a:noFill/>
          <a:ln/>
        </p:spPr>
        <p:txBody>
          <a:bodyPr wrap="square" lIns="0" tIns="0" rIns="0" bIns="0" rtlCol="0" anchor="t"/>
          <a:lstStyle/>
          <a:p>
            <a:pPr marL="0" indent="0" algn="l">
              <a:lnSpc>
                <a:spcPts val="2550"/>
              </a:lnSpc>
              <a:buNone/>
            </a:pPr>
            <a:r>
              <a:rPr lang="en-US" sz="1600" dirty="0">
                <a:solidFill>
                  <a:srgbClr val="333F70"/>
                </a:solidFill>
                <a:latin typeface="Open Sans" pitchFamily="34" charset="0"/>
                <a:ea typeface="Open Sans" pitchFamily="34" charset="-122"/>
                <a:cs typeface="Open Sans" pitchFamily="34" charset="-120"/>
              </a:rPr>
              <a:t>A DePIN (Decentralised Physical Infrastructure Network) where citizens use the HushSense mobile app to turn their smartphones into verified, privacy-preserving soundscape sensors.</a:t>
            </a:r>
            <a:endParaRPr lang="en-US" sz="1600" dirty="0"/>
          </a:p>
        </p:txBody>
      </p:sp>
      <p:sp>
        <p:nvSpPr>
          <p:cNvPr id="7" name="Text 3"/>
          <p:cNvSpPr/>
          <p:nvPr/>
        </p:nvSpPr>
        <p:spPr>
          <a:xfrm>
            <a:off x="716042" y="5755362"/>
            <a:ext cx="3606403" cy="1637109"/>
          </a:xfrm>
          <a:prstGeom prst="rect">
            <a:avLst/>
          </a:prstGeom>
          <a:noFill/>
          <a:ln/>
        </p:spPr>
        <p:txBody>
          <a:bodyPr wrap="square" lIns="0" tIns="0" rIns="0" bIns="0" rtlCol="0" anchor="t"/>
          <a:lstStyle/>
          <a:p>
            <a:pPr marL="0" indent="0" algn="l">
              <a:lnSpc>
                <a:spcPts val="2550"/>
              </a:lnSpc>
              <a:buNone/>
            </a:pPr>
            <a:r>
              <a:rPr lang="en-US" sz="1600" dirty="0">
                <a:solidFill>
                  <a:srgbClr val="333F70"/>
                </a:solidFill>
                <a:latin typeface="Open Sans" pitchFamily="34" charset="0"/>
                <a:ea typeface="Open Sans" pitchFamily="34" charset="-122"/>
                <a:cs typeface="Open Sans" pitchFamily="34" charset="-120"/>
              </a:rPr>
              <a:t>We use </a:t>
            </a:r>
            <a:r>
              <a:rPr lang="en-US" sz="1600" dirty="0">
                <a:solidFill>
                  <a:srgbClr val="26A688"/>
                </a:solidFill>
                <a:latin typeface="Open Sans" pitchFamily="34" charset="0"/>
                <a:ea typeface="Open Sans" pitchFamily="34" charset="-122"/>
                <a:cs typeface="Open Sans" pitchFamily="34" charset="-120"/>
              </a:rPr>
              <a:t>Hedera Hashgraph</a:t>
            </a:r>
            <a:r>
              <a:rPr lang="en-US" sz="1600" dirty="0">
                <a:solidFill>
                  <a:srgbClr val="333F70"/>
                </a:solidFill>
                <a:latin typeface="Open Sans" pitchFamily="34" charset="0"/>
                <a:ea typeface="Open Sans" pitchFamily="34" charset="-122"/>
                <a:cs typeface="Open Sans" pitchFamily="34" charset="-120"/>
              </a:rPr>
              <a:t> to reward contributors which gives </a:t>
            </a:r>
            <a:r>
              <a:rPr lang="en-US" sz="1600" b="1" dirty="0">
                <a:solidFill>
                  <a:srgbClr val="333F70"/>
                </a:solidFill>
                <a:latin typeface="Open Sans" pitchFamily="34" charset="0"/>
                <a:ea typeface="Open Sans" pitchFamily="34" charset="-122"/>
                <a:cs typeface="Open Sans" pitchFamily="34" charset="-120"/>
              </a:rPr>
              <a:t>immutable transaction</a:t>
            </a:r>
            <a:r>
              <a:rPr lang="en-US" sz="1600" dirty="0">
                <a:solidFill>
                  <a:srgbClr val="333F70"/>
                </a:solidFill>
                <a:latin typeface="Open Sans" pitchFamily="34" charset="0"/>
                <a:ea typeface="Open Sans" pitchFamily="34" charset="-122"/>
                <a:cs typeface="Open Sans" pitchFamily="34" charset="-120"/>
              </a:rPr>
              <a:t>  and low cost  ensuring data integrity required by government and commercial buyers.</a:t>
            </a:r>
            <a:endParaRPr lang="en-US" sz="1600" dirty="0"/>
          </a:p>
        </p:txBody>
      </p:sp>
      <p:sp>
        <p:nvSpPr>
          <p:cNvPr id="8" name="Text 4"/>
          <p:cNvSpPr/>
          <p:nvPr/>
        </p:nvSpPr>
        <p:spPr>
          <a:xfrm>
            <a:off x="4829175" y="3082528"/>
            <a:ext cx="2557582" cy="319683"/>
          </a:xfrm>
          <a:prstGeom prst="rect">
            <a:avLst/>
          </a:prstGeom>
          <a:noFill/>
          <a:ln/>
        </p:spPr>
        <p:txBody>
          <a:bodyPr wrap="none" lIns="0" tIns="0" rIns="0" bIns="0" rtlCol="0" anchor="t"/>
          <a:lstStyle/>
          <a:p>
            <a:pPr marL="0" indent="0" algn="l">
              <a:lnSpc>
                <a:spcPts val="2500"/>
              </a:lnSpc>
              <a:buNone/>
            </a:pPr>
            <a:r>
              <a:rPr lang="en-US" sz="2000" b="1" dirty="0">
                <a:solidFill>
                  <a:srgbClr val="333F70"/>
                </a:solidFill>
                <a:latin typeface="Unbounded Bold" pitchFamily="34" charset="0"/>
                <a:ea typeface="Unbounded Bold" pitchFamily="34" charset="-122"/>
                <a:cs typeface="Unbounded Bold" pitchFamily="34" charset="-120"/>
              </a:rPr>
              <a:t>Key Features</a:t>
            </a:r>
            <a:endParaRPr lang="en-US" sz="2000" dirty="0"/>
          </a:p>
        </p:txBody>
      </p:sp>
      <p:sp>
        <p:nvSpPr>
          <p:cNvPr id="9" name="Text 5"/>
          <p:cNvSpPr/>
          <p:nvPr/>
        </p:nvSpPr>
        <p:spPr>
          <a:xfrm>
            <a:off x="4829175" y="3606760"/>
            <a:ext cx="3606403" cy="654844"/>
          </a:xfrm>
          <a:prstGeom prst="rect">
            <a:avLst/>
          </a:prstGeom>
          <a:noFill/>
          <a:ln/>
        </p:spPr>
        <p:txBody>
          <a:bodyPr wrap="square" lIns="0" tIns="0" rIns="0" bIns="0" rtlCol="0" anchor="t"/>
          <a:lstStyle/>
          <a:p>
            <a:pPr marL="342900" indent="-342900" algn="l">
              <a:lnSpc>
                <a:spcPts val="2550"/>
              </a:lnSpc>
              <a:buSzPct val="100000"/>
              <a:buChar char="•"/>
            </a:pPr>
            <a:r>
              <a:rPr lang="en-US" sz="1600" dirty="0">
                <a:solidFill>
                  <a:srgbClr val="333F70"/>
                </a:solidFill>
                <a:latin typeface="Open Sans" pitchFamily="34" charset="0"/>
                <a:ea typeface="Open Sans" pitchFamily="34" charset="-122"/>
                <a:cs typeface="Open Sans" pitchFamily="34" charset="-120"/>
              </a:rPr>
              <a:t>Real-time mapping with dB readings</a:t>
            </a:r>
            <a:endParaRPr lang="en-US" sz="1600" dirty="0"/>
          </a:p>
        </p:txBody>
      </p:sp>
      <p:sp>
        <p:nvSpPr>
          <p:cNvPr id="10" name="Text 6"/>
          <p:cNvSpPr/>
          <p:nvPr/>
        </p:nvSpPr>
        <p:spPr>
          <a:xfrm>
            <a:off x="4829175" y="4333161"/>
            <a:ext cx="3606403" cy="327422"/>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333F70"/>
                </a:solidFill>
                <a:latin typeface="Open Sans" pitchFamily="34" charset="0"/>
                <a:ea typeface="Open Sans" pitchFamily="34" charset="-122"/>
                <a:cs typeface="Open Sans" pitchFamily="34" charset="-120"/>
              </a:rPr>
              <a:t>Token rewards for contributors</a:t>
            </a:r>
            <a:endParaRPr lang="en-US" sz="1600" dirty="0"/>
          </a:p>
        </p:txBody>
      </p:sp>
      <p:sp>
        <p:nvSpPr>
          <p:cNvPr id="11" name="Text 7"/>
          <p:cNvSpPr/>
          <p:nvPr/>
        </p:nvSpPr>
        <p:spPr>
          <a:xfrm>
            <a:off x="4829175" y="4732139"/>
            <a:ext cx="3606403" cy="327422"/>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333F70"/>
                </a:solidFill>
                <a:latin typeface="Open Sans" pitchFamily="34" charset="0"/>
                <a:ea typeface="Open Sans" pitchFamily="34" charset="-122"/>
                <a:cs typeface="Open Sans" pitchFamily="34" charset="-120"/>
              </a:rPr>
              <a:t>Soundscape First-Mover NFTs</a:t>
            </a:r>
            <a:endParaRPr lang="en-US" sz="1600" dirty="0"/>
          </a:p>
        </p:txBody>
      </p:sp>
      <p:sp>
        <p:nvSpPr>
          <p:cNvPr id="12" name="Text 8"/>
          <p:cNvSpPr/>
          <p:nvPr/>
        </p:nvSpPr>
        <p:spPr>
          <a:xfrm>
            <a:off x="4829175" y="5131118"/>
            <a:ext cx="3606403" cy="654844"/>
          </a:xfrm>
          <a:prstGeom prst="rect">
            <a:avLst/>
          </a:prstGeom>
          <a:noFill/>
          <a:ln/>
        </p:spPr>
        <p:txBody>
          <a:bodyPr wrap="square" lIns="0" tIns="0" rIns="0" bIns="0" rtlCol="0" anchor="t"/>
          <a:lstStyle/>
          <a:p>
            <a:pPr marL="342900" indent="-342900" algn="l">
              <a:lnSpc>
                <a:spcPts val="2550"/>
              </a:lnSpc>
              <a:buSzPct val="100000"/>
              <a:buChar char="•"/>
            </a:pPr>
            <a:r>
              <a:rPr lang="en-US" sz="1600" dirty="0">
                <a:solidFill>
                  <a:srgbClr val="333F70"/>
                </a:solidFill>
                <a:latin typeface="Open Sans" pitchFamily="34" charset="0"/>
                <a:ea typeface="Open Sans" pitchFamily="34" charset="-122"/>
                <a:cs typeface="Open Sans" pitchFamily="34" charset="-120"/>
              </a:rPr>
              <a:t>Analytic Dashboard of Noise Dataset.</a:t>
            </a:r>
            <a:endParaRPr lang="en-US" sz="1600" dirty="0"/>
          </a:p>
        </p:txBody>
      </p:sp>
      <p:sp>
        <p:nvSpPr>
          <p:cNvPr id="13" name="Text 9"/>
          <p:cNvSpPr/>
          <p:nvPr/>
        </p:nvSpPr>
        <p:spPr>
          <a:xfrm>
            <a:off x="4829175" y="5857518"/>
            <a:ext cx="3606403" cy="327422"/>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333F70"/>
                </a:solidFill>
                <a:latin typeface="Open Sans" pitchFamily="34" charset="0"/>
                <a:ea typeface="Open Sans" pitchFamily="34" charset="-122"/>
                <a:cs typeface="Open Sans" pitchFamily="34" charset="-120"/>
              </a:rPr>
              <a:t>Cryptographic data security</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93790" y="1601510"/>
            <a:ext cx="9906238" cy="708779"/>
          </a:xfrm>
          <a:prstGeom prst="rect">
            <a:avLst/>
          </a:prstGeom>
          <a:noFill/>
          <a:ln/>
        </p:spPr>
        <p:txBody>
          <a:bodyPr wrap="none" lIns="0" tIns="0" rIns="0" bIns="0" rtlCol="0" anchor="t"/>
          <a:lstStyle/>
          <a:p>
            <a:pPr marL="0" indent="0" algn="l">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Infrastructure We Leverage</a:t>
            </a:r>
            <a:endParaRPr lang="en-US" sz="445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2763917"/>
            <a:ext cx="566976" cy="566976"/>
          </a:xfrm>
          <a:prstGeom prst="rect">
            <a:avLst/>
          </a:prstGeom>
        </p:spPr>
      </p:pic>
      <p:sp>
        <p:nvSpPr>
          <p:cNvPr id="4" name="Text 1"/>
          <p:cNvSpPr/>
          <p:nvPr/>
        </p:nvSpPr>
        <p:spPr>
          <a:xfrm>
            <a:off x="793790" y="3614380"/>
            <a:ext cx="4158615" cy="708660"/>
          </a:xfrm>
          <a:prstGeom prst="rect">
            <a:avLst/>
          </a:prstGeom>
          <a:noFill/>
          <a:ln/>
        </p:spPr>
        <p:txBody>
          <a:bodyPr wrap="square" lIns="0" tIns="0" rIns="0" bIns="0" rtlCol="0" anchor="t"/>
          <a:lstStyle/>
          <a:p>
            <a:pPr marL="0" indent="0" algn="l">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Global Smartphone Network</a:t>
            </a:r>
            <a:endParaRPr lang="en-US" sz="2200" dirty="0"/>
          </a:p>
        </p:txBody>
      </p:sp>
      <p:sp>
        <p:nvSpPr>
          <p:cNvPr id="5" name="Text 2"/>
          <p:cNvSpPr/>
          <p:nvPr/>
        </p:nvSpPr>
        <p:spPr>
          <a:xfrm>
            <a:off x="793790" y="4459129"/>
            <a:ext cx="4158615" cy="1814513"/>
          </a:xfrm>
          <a:prstGeom prst="rect">
            <a:avLst/>
          </a:prstGeom>
          <a:noFill/>
          <a:ln/>
        </p:spPr>
        <p:txBody>
          <a:bodyPr wrap="squar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Leveraging the existing global network of smartphones to transform them into verified, privacy-preserving soundscape sensors for real-time data collection.</a:t>
            </a:r>
            <a:endParaRPr lang="en-US" sz="1750" dirty="0"/>
          </a:p>
        </p:txBody>
      </p:sp>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35893" y="2763917"/>
            <a:ext cx="566976" cy="566976"/>
          </a:xfrm>
          <a:prstGeom prst="rect">
            <a:avLst/>
          </a:prstGeom>
        </p:spPr>
      </p:pic>
      <p:sp>
        <p:nvSpPr>
          <p:cNvPr id="7" name="Text 3"/>
          <p:cNvSpPr/>
          <p:nvPr/>
        </p:nvSpPr>
        <p:spPr>
          <a:xfrm>
            <a:off x="5235893" y="3614380"/>
            <a:ext cx="4158615" cy="708660"/>
          </a:xfrm>
          <a:prstGeom prst="rect">
            <a:avLst/>
          </a:prstGeom>
          <a:noFill/>
          <a:ln/>
        </p:spPr>
        <p:txBody>
          <a:bodyPr wrap="square" lIns="0" tIns="0" rIns="0" bIns="0" rtlCol="0" anchor="t"/>
          <a:lstStyle/>
          <a:p>
            <a:pPr marL="0" indent="0" algn="l">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Hedera Token Service (HTS)</a:t>
            </a:r>
            <a:endParaRPr lang="en-US" sz="2200" dirty="0"/>
          </a:p>
        </p:txBody>
      </p:sp>
      <p:sp>
        <p:nvSpPr>
          <p:cNvPr id="8" name="Text 4"/>
          <p:cNvSpPr/>
          <p:nvPr/>
        </p:nvSpPr>
        <p:spPr>
          <a:xfrm>
            <a:off x="5235893" y="4459129"/>
            <a:ext cx="4158615" cy="1814513"/>
          </a:xfrm>
          <a:prstGeom prst="rect">
            <a:avLst/>
          </a:prstGeom>
          <a:noFill/>
          <a:ln/>
        </p:spPr>
        <p:txBody>
          <a:bodyPr wrap="squar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Used for creating and managing the fungible HUSH token and the NFT collection, facilitating efficient minting of tokens and NFTs, and associating them with user accounts.</a:t>
            </a:r>
            <a:endParaRPr lang="en-US" sz="1750" dirty="0"/>
          </a:p>
        </p:txBody>
      </p:sp>
      <p:pic>
        <p:nvPicPr>
          <p:cNvPr id="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77995" y="2763917"/>
            <a:ext cx="566976" cy="566976"/>
          </a:xfrm>
          <a:prstGeom prst="rect">
            <a:avLst/>
          </a:prstGeom>
        </p:spPr>
      </p:pic>
      <p:sp>
        <p:nvSpPr>
          <p:cNvPr id="10" name="Text 5"/>
          <p:cNvSpPr/>
          <p:nvPr/>
        </p:nvSpPr>
        <p:spPr>
          <a:xfrm>
            <a:off x="9677995" y="3614380"/>
            <a:ext cx="4158615" cy="1062990"/>
          </a:xfrm>
          <a:prstGeom prst="rect">
            <a:avLst/>
          </a:prstGeom>
          <a:noFill/>
          <a:ln/>
        </p:spPr>
        <p:txBody>
          <a:bodyPr wrap="square" lIns="0" tIns="0" rIns="0" bIns="0" rtlCol="0" anchor="t"/>
          <a:lstStyle/>
          <a:p>
            <a:pPr marL="0" indent="0" algn="l">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Hedera Smart Contract Service (HSCS) / EVM</a:t>
            </a:r>
            <a:endParaRPr lang="en-US" sz="2200" dirty="0"/>
          </a:p>
        </p:txBody>
      </p:sp>
      <p:sp>
        <p:nvSpPr>
          <p:cNvPr id="11" name="Text 6"/>
          <p:cNvSpPr/>
          <p:nvPr/>
        </p:nvSpPr>
        <p:spPr>
          <a:xfrm>
            <a:off x="9677995" y="4813459"/>
            <a:ext cx="4158615" cy="1814513"/>
          </a:xfrm>
          <a:prstGeom prst="rect">
            <a:avLst/>
          </a:prstGeom>
          <a:noFill/>
          <a:ln/>
        </p:spPr>
        <p:txBody>
          <a:bodyPr wrap="squar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Hosts the HushSense Manager contract, which enforces owner-only minting logic and calls HTS precompiles to ensure secure and controlled token operations.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31376" y="418028"/>
            <a:ext cx="7878247" cy="474464"/>
          </a:xfrm>
          <a:prstGeom prst="rect">
            <a:avLst/>
          </a:prstGeom>
          <a:noFill/>
          <a:ln/>
        </p:spPr>
        <p:txBody>
          <a:bodyPr wrap="none" lIns="0" tIns="0" rIns="0" bIns="0" rtlCol="0" anchor="t"/>
          <a:lstStyle/>
          <a:p>
            <a:pPr marL="0" indent="0" algn="l">
              <a:lnSpc>
                <a:spcPts val="3700"/>
              </a:lnSpc>
              <a:buNone/>
            </a:pPr>
            <a:r>
              <a:rPr lang="en-US" sz="2950" b="1" dirty="0">
                <a:solidFill>
                  <a:srgbClr val="333F70"/>
                </a:solidFill>
                <a:latin typeface="Unbounded Bold" pitchFamily="34" charset="0"/>
                <a:ea typeface="Unbounded Bold" pitchFamily="34" charset="-122"/>
                <a:cs typeface="Unbounded Bold" pitchFamily="34" charset="-120"/>
              </a:rPr>
              <a:t>A Glance of HushSense Software</a:t>
            </a:r>
            <a:endParaRPr lang="en-US" sz="2950" dirty="0"/>
          </a:p>
        </p:txBody>
      </p:sp>
      <p:sp>
        <p:nvSpPr>
          <p:cNvPr id="3" name="Text 1"/>
          <p:cNvSpPr/>
          <p:nvPr/>
        </p:nvSpPr>
        <p:spPr>
          <a:xfrm>
            <a:off x="1530191" y="1271945"/>
            <a:ext cx="2277428" cy="284678"/>
          </a:xfrm>
          <a:prstGeom prst="rect">
            <a:avLst/>
          </a:prstGeom>
          <a:noFill/>
          <a:ln/>
        </p:spPr>
        <p:txBody>
          <a:bodyPr wrap="none" lIns="0" tIns="0" rIns="0" bIns="0" rtlCol="0" anchor="t"/>
          <a:lstStyle/>
          <a:p>
            <a:pPr marL="0" indent="0" algn="ctr">
              <a:lnSpc>
                <a:spcPts val="2200"/>
              </a:lnSpc>
              <a:buNone/>
            </a:pPr>
            <a:r>
              <a:rPr lang="en-US" sz="1750" b="1" dirty="0">
                <a:solidFill>
                  <a:srgbClr val="26A688"/>
                </a:solidFill>
                <a:latin typeface="Unbounded Bold" pitchFamily="34" charset="0"/>
                <a:ea typeface="Unbounded Bold" pitchFamily="34" charset="-122"/>
                <a:cs typeface="Unbounded Bold" pitchFamily="34" charset="-120"/>
              </a:rPr>
              <a:t>Home Page</a:t>
            </a:r>
            <a:endParaRPr lang="en-US" sz="1750" dirty="0"/>
          </a:p>
        </p:txBody>
      </p:sp>
      <p:pic>
        <p:nvPicPr>
          <p:cNvPr id="4" name="Image 0" descr="preencoded.png"/>
          <p:cNvPicPr>
            <a:picLocks noChangeAspect="1"/>
          </p:cNvPicPr>
          <p:nvPr/>
        </p:nvPicPr>
        <p:blipFill>
          <a:blip r:embed="rId3"/>
          <a:stretch>
            <a:fillRect/>
          </a:stretch>
        </p:blipFill>
        <p:spPr>
          <a:xfrm>
            <a:off x="1407378" y="1727359"/>
            <a:ext cx="2661047" cy="5913358"/>
          </a:xfrm>
          <a:prstGeom prst="rect">
            <a:avLst/>
          </a:prstGeom>
        </p:spPr>
      </p:pic>
      <p:sp>
        <p:nvSpPr>
          <p:cNvPr id="5" name="Text 2"/>
          <p:cNvSpPr/>
          <p:nvPr/>
        </p:nvSpPr>
        <p:spPr>
          <a:xfrm>
            <a:off x="5814267" y="1271945"/>
            <a:ext cx="2277428" cy="284678"/>
          </a:xfrm>
          <a:prstGeom prst="rect">
            <a:avLst/>
          </a:prstGeom>
          <a:noFill/>
          <a:ln/>
        </p:spPr>
        <p:txBody>
          <a:bodyPr wrap="none" lIns="0" tIns="0" rIns="0" bIns="0" rtlCol="0" anchor="t"/>
          <a:lstStyle/>
          <a:p>
            <a:pPr marL="0" indent="0" algn="ctr">
              <a:lnSpc>
                <a:spcPts val="2200"/>
              </a:lnSpc>
              <a:buNone/>
            </a:pPr>
            <a:r>
              <a:rPr lang="en-US" sz="1750" b="1" dirty="0">
                <a:solidFill>
                  <a:srgbClr val="26A688"/>
                </a:solidFill>
                <a:latin typeface="Unbounded Bold" pitchFamily="34" charset="0"/>
                <a:ea typeface="Unbounded Bold" pitchFamily="34" charset="-122"/>
                <a:cs typeface="Unbounded Bold" pitchFamily="34" charset="-120"/>
              </a:rPr>
              <a:t>Noise Map </a:t>
            </a:r>
            <a:endParaRPr lang="en-US" sz="1750" dirty="0"/>
          </a:p>
        </p:txBody>
      </p:sp>
      <p:pic>
        <p:nvPicPr>
          <p:cNvPr id="6" name="Image 1" descr="preencoded.png"/>
          <p:cNvPicPr>
            <a:picLocks noChangeAspect="1"/>
          </p:cNvPicPr>
          <p:nvPr/>
        </p:nvPicPr>
        <p:blipFill>
          <a:blip r:embed="rId4"/>
          <a:stretch>
            <a:fillRect/>
          </a:stretch>
        </p:blipFill>
        <p:spPr>
          <a:xfrm>
            <a:off x="5622458" y="1727359"/>
            <a:ext cx="2661047" cy="5913358"/>
          </a:xfrm>
          <a:prstGeom prst="rect">
            <a:avLst/>
          </a:prstGeom>
        </p:spPr>
      </p:pic>
      <p:sp>
        <p:nvSpPr>
          <p:cNvPr id="7" name="Text 3"/>
          <p:cNvSpPr/>
          <p:nvPr/>
        </p:nvSpPr>
        <p:spPr>
          <a:xfrm>
            <a:off x="10029348" y="1271945"/>
            <a:ext cx="2277428" cy="284678"/>
          </a:xfrm>
          <a:prstGeom prst="rect">
            <a:avLst/>
          </a:prstGeom>
          <a:noFill/>
          <a:ln/>
        </p:spPr>
        <p:txBody>
          <a:bodyPr wrap="none" lIns="0" tIns="0" rIns="0" bIns="0" rtlCol="0" anchor="t"/>
          <a:lstStyle/>
          <a:p>
            <a:pPr marL="0" indent="0" algn="ctr">
              <a:lnSpc>
                <a:spcPts val="2200"/>
              </a:lnSpc>
              <a:buNone/>
            </a:pPr>
            <a:r>
              <a:rPr lang="en-US" sz="1750" b="1" dirty="0">
                <a:solidFill>
                  <a:srgbClr val="26A688"/>
                </a:solidFill>
                <a:latin typeface="Unbounded Bold" pitchFamily="34" charset="0"/>
                <a:ea typeface="Unbounded Bold" pitchFamily="34" charset="-122"/>
                <a:cs typeface="Unbounded Bold" pitchFamily="34" charset="-120"/>
              </a:rPr>
              <a:t>Measure Page </a:t>
            </a:r>
            <a:endParaRPr lang="en-US" sz="1750" dirty="0"/>
          </a:p>
        </p:txBody>
      </p:sp>
      <p:pic>
        <p:nvPicPr>
          <p:cNvPr id="8" name="Image 2" descr="preencoded.png"/>
          <p:cNvPicPr>
            <a:picLocks noChangeAspect="1"/>
          </p:cNvPicPr>
          <p:nvPr/>
        </p:nvPicPr>
        <p:blipFill>
          <a:blip r:embed="rId5"/>
          <a:stretch>
            <a:fillRect/>
          </a:stretch>
        </p:blipFill>
        <p:spPr>
          <a:xfrm>
            <a:off x="9837539" y="1727359"/>
            <a:ext cx="2661047" cy="591335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31376" y="418028"/>
            <a:ext cx="8271748" cy="474464"/>
          </a:xfrm>
          <a:prstGeom prst="rect">
            <a:avLst/>
          </a:prstGeom>
          <a:noFill/>
          <a:ln/>
        </p:spPr>
        <p:txBody>
          <a:bodyPr wrap="none" lIns="0" tIns="0" rIns="0" bIns="0" rtlCol="0" anchor="t"/>
          <a:lstStyle/>
          <a:p>
            <a:pPr marL="0" indent="0" algn="l">
              <a:lnSpc>
                <a:spcPts val="3700"/>
              </a:lnSpc>
              <a:buNone/>
            </a:pPr>
            <a:r>
              <a:rPr lang="en-US" sz="2950" b="1" dirty="0">
                <a:solidFill>
                  <a:srgbClr val="333F70"/>
                </a:solidFill>
                <a:latin typeface="Unbounded Bold" pitchFamily="34" charset="0"/>
                <a:ea typeface="Unbounded Bold" pitchFamily="34" charset="-122"/>
                <a:cs typeface="Unbounded Bold" pitchFamily="34" charset="-120"/>
              </a:rPr>
              <a:t>2nd Phase of HushSense Software</a:t>
            </a:r>
            <a:endParaRPr lang="en-US" sz="2950" dirty="0"/>
          </a:p>
        </p:txBody>
      </p:sp>
      <p:sp>
        <p:nvSpPr>
          <p:cNvPr id="3" name="Text 1"/>
          <p:cNvSpPr/>
          <p:nvPr/>
        </p:nvSpPr>
        <p:spPr>
          <a:xfrm>
            <a:off x="1530906" y="1271945"/>
            <a:ext cx="2277428" cy="284678"/>
          </a:xfrm>
          <a:prstGeom prst="rect">
            <a:avLst/>
          </a:prstGeom>
          <a:noFill/>
          <a:ln/>
        </p:spPr>
        <p:txBody>
          <a:bodyPr wrap="none" lIns="0" tIns="0" rIns="0" bIns="0" rtlCol="0" anchor="t"/>
          <a:lstStyle/>
          <a:p>
            <a:pPr marL="0" indent="0" algn="ctr">
              <a:lnSpc>
                <a:spcPts val="2200"/>
              </a:lnSpc>
              <a:buNone/>
            </a:pPr>
            <a:r>
              <a:rPr lang="en-US" sz="1750" b="1" dirty="0">
                <a:solidFill>
                  <a:srgbClr val="26A688"/>
                </a:solidFill>
                <a:latin typeface="Unbounded Bold" pitchFamily="34" charset="0"/>
                <a:ea typeface="Unbounded Bold" pitchFamily="34" charset="-122"/>
                <a:cs typeface="Unbounded Bold" pitchFamily="34" charset="-120"/>
              </a:rPr>
              <a:t>Reward Page</a:t>
            </a:r>
            <a:endParaRPr lang="en-US" sz="1750" dirty="0"/>
          </a:p>
        </p:txBody>
      </p:sp>
      <p:pic>
        <p:nvPicPr>
          <p:cNvPr id="4" name="Image 0" descr="preencoded.png"/>
          <p:cNvPicPr>
            <a:picLocks noChangeAspect="1"/>
          </p:cNvPicPr>
          <p:nvPr/>
        </p:nvPicPr>
        <p:blipFill>
          <a:blip r:embed="rId3"/>
          <a:stretch>
            <a:fillRect/>
          </a:stretch>
        </p:blipFill>
        <p:spPr>
          <a:xfrm>
            <a:off x="1339096" y="1772162"/>
            <a:ext cx="2661047" cy="5913358"/>
          </a:xfrm>
          <a:prstGeom prst="rect">
            <a:avLst/>
          </a:prstGeom>
        </p:spPr>
      </p:pic>
      <p:sp>
        <p:nvSpPr>
          <p:cNvPr id="5" name="Text 2"/>
          <p:cNvSpPr/>
          <p:nvPr/>
        </p:nvSpPr>
        <p:spPr>
          <a:xfrm>
            <a:off x="5185886" y="1271945"/>
            <a:ext cx="2515076" cy="284678"/>
          </a:xfrm>
          <a:prstGeom prst="rect">
            <a:avLst/>
          </a:prstGeom>
          <a:noFill/>
          <a:ln/>
        </p:spPr>
        <p:txBody>
          <a:bodyPr wrap="none" lIns="0" tIns="0" rIns="0" bIns="0" rtlCol="0" anchor="t"/>
          <a:lstStyle/>
          <a:p>
            <a:pPr marL="0" indent="0" algn="l">
              <a:lnSpc>
                <a:spcPts val="2200"/>
              </a:lnSpc>
              <a:buNone/>
            </a:pPr>
            <a:r>
              <a:rPr lang="en-US" sz="1750" b="1" dirty="0">
                <a:solidFill>
                  <a:srgbClr val="26A688"/>
                </a:solidFill>
                <a:latin typeface="Unbounded Bold" pitchFamily="34" charset="0"/>
                <a:ea typeface="Unbounded Bold" pitchFamily="34" charset="-122"/>
                <a:cs typeface="Unbounded Bold" pitchFamily="34" charset="-120"/>
              </a:rPr>
              <a:t>Game Dashboard</a:t>
            </a:r>
            <a:endParaRPr lang="en-US" sz="1750" dirty="0"/>
          </a:p>
        </p:txBody>
      </p:sp>
      <p:pic>
        <p:nvPicPr>
          <p:cNvPr id="6" name="Image 1" descr="preencoded.png"/>
          <p:cNvPicPr>
            <a:picLocks noChangeAspect="1"/>
          </p:cNvPicPr>
          <p:nvPr/>
        </p:nvPicPr>
        <p:blipFill>
          <a:blip r:embed="rId4"/>
          <a:stretch>
            <a:fillRect/>
          </a:stretch>
        </p:blipFill>
        <p:spPr>
          <a:xfrm>
            <a:off x="5112900" y="1727359"/>
            <a:ext cx="2661047" cy="5913358"/>
          </a:xfrm>
          <a:prstGeom prst="rect">
            <a:avLst/>
          </a:prstGeom>
        </p:spPr>
      </p:pic>
      <p:sp>
        <p:nvSpPr>
          <p:cNvPr id="7" name="Text 3"/>
          <p:cNvSpPr/>
          <p:nvPr/>
        </p:nvSpPr>
        <p:spPr>
          <a:xfrm>
            <a:off x="9838968" y="1271945"/>
            <a:ext cx="2277428" cy="284678"/>
          </a:xfrm>
          <a:prstGeom prst="rect">
            <a:avLst/>
          </a:prstGeom>
          <a:noFill/>
          <a:ln/>
        </p:spPr>
        <p:txBody>
          <a:bodyPr wrap="none" lIns="0" tIns="0" rIns="0" bIns="0" rtlCol="0" anchor="t"/>
          <a:lstStyle/>
          <a:p>
            <a:pPr marL="0" indent="0" algn="l">
              <a:lnSpc>
                <a:spcPts val="2200"/>
              </a:lnSpc>
              <a:buNone/>
            </a:pPr>
            <a:r>
              <a:rPr lang="en-US" sz="1750" b="1" dirty="0">
                <a:solidFill>
                  <a:srgbClr val="26A688"/>
                </a:solidFill>
                <a:latin typeface="Unbounded Bold" pitchFamily="34" charset="0"/>
                <a:ea typeface="Unbounded Bold" pitchFamily="34" charset="-122"/>
                <a:cs typeface="Unbounded Bold" pitchFamily="34" charset="-120"/>
              </a:rPr>
              <a:t>Analytics Page</a:t>
            </a:r>
            <a:r>
              <a:rPr lang="en-US" sz="1750" b="1" dirty="0">
                <a:solidFill>
                  <a:srgbClr val="333F70"/>
                </a:solidFill>
                <a:latin typeface="Unbounded Bold" pitchFamily="34" charset="0"/>
                <a:ea typeface="Unbounded Bold" pitchFamily="34" charset="-122"/>
                <a:cs typeface="Unbounded Bold" pitchFamily="34" charset="-120"/>
              </a:rPr>
              <a:t> </a:t>
            </a:r>
            <a:endParaRPr lang="en-US" sz="1750" dirty="0"/>
          </a:p>
        </p:txBody>
      </p:sp>
      <p:pic>
        <p:nvPicPr>
          <p:cNvPr id="8" name="Image 2" descr="preencoded.png"/>
          <p:cNvPicPr>
            <a:picLocks noChangeAspect="1"/>
          </p:cNvPicPr>
          <p:nvPr/>
        </p:nvPicPr>
        <p:blipFill>
          <a:blip r:embed="rId5"/>
          <a:stretch>
            <a:fillRect/>
          </a:stretch>
        </p:blipFill>
        <p:spPr>
          <a:xfrm>
            <a:off x="9838968" y="1727359"/>
            <a:ext cx="2661047" cy="591335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79133" y="687229"/>
            <a:ext cx="6998018" cy="606385"/>
          </a:xfrm>
          <a:prstGeom prst="rect">
            <a:avLst/>
          </a:prstGeom>
          <a:noFill/>
          <a:ln/>
        </p:spPr>
        <p:txBody>
          <a:bodyPr wrap="none" lIns="0" tIns="0" rIns="0" bIns="0" rtlCol="0" anchor="t"/>
          <a:lstStyle/>
          <a:p>
            <a:pPr marL="0" indent="0" algn="l">
              <a:lnSpc>
                <a:spcPts val="4750"/>
              </a:lnSpc>
              <a:buNone/>
            </a:pPr>
            <a:r>
              <a:rPr lang="en-US" sz="3800" b="1" dirty="0">
                <a:solidFill>
                  <a:srgbClr val="333F70"/>
                </a:solidFill>
                <a:latin typeface="Unbounded Bold" pitchFamily="34" charset="0"/>
                <a:ea typeface="Unbounded Bold" pitchFamily="34" charset="-122"/>
                <a:cs typeface="Unbounded Bold" pitchFamily="34" charset="-120"/>
              </a:rPr>
              <a:t>The Hedera Advantage</a:t>
            </a:r>
            <a:endParaRPr lang="en-US" sz="3800" dirty="0"/>
          </a:p>
        </p:txBody>
      </p:sp>
      <p:sp>
        <p:nvSpPr>
          <p:cNvPr id="3" name="Text 1"/>
          <p:cNvSpPr/>
          <p:nvPr/>
        </p:nvSpPr>
        <p:spPr>
          <a:xfrm>
            <a:off x="679133" y="1681639"/>
            <a:ext cx="13272135" cy="388025"/>
          </a:xfrm>
          <a:prstGeom prst="rect">
            <a:avLst/>
          </a:prstGeom>
          <a:noFill/>
          <a:ln/>
        </p:spPr>
        <p:txBody>
          <a:bodyPr wrap="none" lIns="0" tIns="0" rIns="0" bIns="0" rtlCol="0" anchor="t"/>
          <a:lstStyle/>
          <a:p>
            <a:pPr marL="0" indent="0" algn="l">
              <a:lnSpc>
                <a:spcPts val="3050"/>
              </a:lnSpc>
              <a:buNone/>
            </a:pPr>
            <a:r>
              <a:rPr lang="en-US" sz="1900" b="1" dirty="0">
                <a:solidFill>
                  <a:srgbClr val="333F70"/>
                </a:solidFill>
                <a:latin typeface="Open Sans" pitchFamily="34" charset="0"/>
                <a:ea typeface="Open Sans" pitchFamily="34" charset="-122"/>
                <a:cs typeface="Open Sans" pitchFamily="34" charset="-120"/>
              </a:rPr>
              <a:t>Onboarding massive users onto Hedera with security and sustainability at scale.</a:t>
            </a:r>
            <a:endParaRPr lang="en-US" sz="1900" dirty="0"/>
          </a:p>
        </p:txBody>
      </p:sp>
      <p:sp>
        <p:nvSpPr>
          <p:cNvPr id="4" name="Shape 2"/>
          <p:cNvSpPr/>
          <p:nvPr/>
        </p:nvSpPr>
        <p:spPr>
          <a:xfrm>
            <a:off x="679133" y="2287905"/>
            <a:ext cx="6539032" cy="2530197"/>
          </a:xfrm>
          <a:prstGeom prst="roundRect">
            <a:avLst>
              <a:gd name="adj" fmla="val 3221"/>
            </a:avLst>
          </a:prstGeom>
          <a:solidFill>
            <a:srgbClr val="D6F5EE"/>
          </a:solidFill>
          <a:ln w="7620">
            <a:solidFill>
              <a:srgbClr val="BCDBD4"/>
            </a:solidFill>
            <a:prstDash val="solid"/>
          </a:ln>
        </p:spPr>
        <p:txBody>
          <a:bodyPr/>
          <a:lstStyle/>
          <a:p>
            <a:endParaRPr lang="en-US"/>
          </a:p>
        </p:txBody>
      </p:sp>
      <p:sp>
        <p:nvSpPr>
          <p:cNvPr id="5" name="Shape 3"/>
          <p:cNvSpPr/>
          <p:nvPr/>
        </p:nvSpPr>
        <p:spPr>
          <a:xfrm>
            <a:off x="880705" y="2489478"/>
            <a:ext cx="582097" cy="582097"/>
          </a:xfrm>
          <a:prstGeom prst="roundRect">
            <a:avLst>
              <a:gd name="adj" fmla="val 15707151"/>
            </a:avLst>
          </a:prstGeom>
          <a:solidFill>
            <a:srgbClr val="26A688"/>
          </a:solidFill>
          <a:ln/>
        </p:spPr>
        <p:txBody>
          <a:bodyPr/>
          <a:lstStyle/>
          <a:p>
            <a:endParaRPr lang="en-US"/>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0725" y="2649498"/>
            <a:ext cx="261937" cy="261937"/>
          </a:xfrm>
          <a:prstGeom prst="rect">
            <a:avLst/>
          </a:prstGeom>
        </p:spPr>
      </p:pic>
      <p:sp>
        <p:nvSpPr>
          <p:cNvPr id="7" name="Text 4"/>
          <p:cNvSpPr/>
          <p:nvPr/>
        </p:nvSpPr>
        <p:spPr>
          <a:xfrm>
            <a:off x="880705" y="3265527"/>
            <a:ext cx="3184446" cy="303133"/>
          </a:xfrm>
          <a:prstGeom prst="rect">
            <a:avLst/>
          </a:prstGeom>
          <a:noFill/>
          <a:ln/>
        </p:spPr>
        <p:txBody>
          <a:bodyPr wrap="none" lIns="0" tIns="0" rIns="0" bIns="0" rtlCol="0" anchor="t"/>
          <a:lstStyle/>
          <a:p>
            <a:pPr marL="0" indent="0" algn="l">
              <a:lnSpc>
                <a:spcPts val="2350"/>
              </a:lnSpc>
              <a:buNone/>
            </a:pPr>
            <a:r>
              <a:rPr lang="en-US" sz="1900" b="1" dirty="0">
                <a:solidFill>
                  <a:srgbClr val="333F70"/>
                </a:solidFill>
                <a:latin typeface="Unbounded Bold" pitchFamily="34" charset="0"/>
                <a:ea typeface="Unbounded Bold" pitchFamily="34" charset="-122"/>
                <a:cs typeface="Unbounded Bold" pitchFamily="34" charset="-120"/>
              </a:rPr>
              <a:t>ABFT Finality &amp; Trust</a:t>
            </a:r>
            <a:endParaRPr lang="en-US" sz="1900" dirty="0"/>
          </a:p>
        </p:txBody>
      </p:sp>
      <p:sp>
        <p:nvSpPr>
          <p:cNvPr id="8" name="Text 5"/>
          <p:cNvSpPr/>
          <p:nvPr/>
        </p:nvSpPr>
        <p:spPr>
          <a:xfrm>
            <a:off x="880705" y="3684984"/>
            <a:ext cx="6135886" cy="931545"/>
          </a:xfrm>
          <a:prstGeom prst="rect">
            <a:avLst/>
          </a:prstGeom>
          <a:noFill/>
          <a:ln/>
        </p:spPr>
        <p:txBody>
          <a:bodyPr wrap="square" lIns="0" tIns="0" rIns="0" bIns="0" rtlCol="0" anchor="t"/>
          <a:lstStyle/>
          <a:p>
            <a:pPr marL="0" indent="0" algn="l">
              <a:lnSpc>
                <a:spcPts val="2400"/>
              </a:lnSpc>
              <a:buNone/>
            </a:pPr>
            <a:r>
              <a:rPr lang="en-US" dirty="0">
                <a:solidFill>
                  <a:srgbClr val="333F70"/>
                </a:solidFill>
                <a:latin typeface="Open Sans" pitchFamily="34" charset="0"/>
                <a:ea typeface="Open Sans" pitchFamily="34" charset="-122"/>
                <a:cs typeface="Open Sans" pitchFamily="34" charset="-120"/>
              </a:rPr>
              <a:t>Hedera's Asynchronous Byzantine Fault Tolerance provides instant finality. We log millions of noise data points securely without risk of forks critical for environmental enforcement data.</a:t>
            </a:r>
            <a:endParaRPr lang="en-US" dirty="0"/>
          </a:p>
        </p:txBody>
      </p:sp>
      <p:sp>
        <p:nvSpPr>
          <p:cNvPr id="9" name="Shape 6"/>
          <p:cNvSpPr/>
          <p:nvPr/>
        </p:nvSpPr>
        <p:spPr>
          <a:xfrm>
            <a:off x="7412117" y="2287905"/>
            <a:ext cx="6539151" cy="2530197"/>
          </a:xfrm>
          <a:prstGeom prst="roundRect">
            <a:avLst>
              <a:gd name="adj" fmla="val 3221"/>
            </a:avLst>
          </a:prstGeom>
          <a:solidFill>
            <a:srgbClr val="D6F5EE"/>
          </a:solidFill>
          <a:ln w="7620">
            <a:solidFill>
              <a:srgbClr val="BCDBD4"/>
            </a:solidFill>
            <a:prstDash val="solid"/>
          </a:ln>
        </p:spPr>
        <p:txBody>
          <a:bodyPr/>
          <a:lstStyle/>
          <a:p>
            <a:endParaRPr lang="en-US"/>
          </a:p>
        </p:txBody>
      </p:sp>
      <p:sp>
        <p:nvSpPr>
          <p:cNvPr id="10" name="Shape 7"/>
          <p:cNvSpPr/>
          <p:nvPr/>
        </p:nvSpPr>
        <p:spPr>
          <a:xfrm>
            <a:off x="7613690" y="2489478"/>
            <a:ext cx="582097" cy="582097"/>
          </a:xfrm>
          <a:prstGeom prst="roundRect">
            <a:avLst>
              <a:gd name="adj" fmla="val 15707151"/>
            </a:avLst>
          </a:prstGeom>
          <a:solidFill>
            <a:srgbClr val="26A688"/>
          </a:solidFill>
          <a:ln/>
        </p:spPr>
        <p:txBody>
          <a:bodyPr/>
          <a:lstStyle/>
          <a:p>
            <a:endParaRPr lang="en-US"/>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73710" y="2649498"/>
            <a:ext cx="261937" cy="261937"/>
          </a:xfrm>
          <a:prstGeom prst="rect">
            <a:avLst/>
          </a:prstGeom>
        </p:spPr>
      </p:pic>
      <p:sp>
        <p:nvSpPr>
          <p:cNvPr id="12" name="Text 8"/>
          <p:cNvSpPr/>
          <p:nvPr/>
        </p:nvSpPr>
        <p:spPr>
          <a:xfrm>
            <a:off x="7613690" y="3265527"/>
            <a:ext cx="3310890" cy="303133"/>
          </a:xfrm>
          <a:prstGeom prst="rect">
            <a:avLst/>
          </a:prstGeom>
          <a:noFill/>
          <a:ln/>
        </p:spPr>
        <p:txBody>
          <a:bodyPr wrap="none" lIns="0" tIns="0" rIns="0" bIns="0" rtlCol="0" anchor="t"/>
          <a:lstStyle/>
          <a:p>
            <a:pPr marL="0" indent="0" algn="l">
              <a:lnSpc>
                <a:spcPts val="2350"/>
              </a:lnSpc>
              <a:buNone/>
            </a:pPr>
            <a:r>
              <a:rPr lang="en-US" sz="1900" b="1" dirty="0">
                <a:solidFill>
                  <a:srgbClr val="333F70"/>
                </a:solidFill>
                <a:latin typeface="Unbounded Bold" pitchFamily="34" charset="0"/>
                <a:ea typeface="Unbounded Bold" pitchFamily="34" charset="-122"/>
                <a:cs typeface="Unbounded Bold" pitchFamily="34" charset="-120"/>
              </a:rPr>
              <a:t>Predictable, Low Fees</a:t>
            </a:r>
            <a:endParaRPr lang="en-US" sz="1900" dirty="0"/>
          </a:p>
        </p:txBody>
      </p:sp>
      <p:sp>
        <p:nvSpPr>
          <p:cNvPr id="13" name="Text 9"/>
          <p:cNvSpPr/>
          <p:nvPr/>
        </p:nvSpPr>
        <p:spPr>
          <a:xfrm>
            <a:off x="7613690" y="3684984"/>
            <a:ext cx="6136005" cy="931545"/>
          </a:xfrm>
          <a:prstGeom prst="rect">
            <a:avLst/>
          </a:prstGeom>
          <a:noFill/>
          <a:ln/>
        </p:spPr>
        <p:txBody>
          <a:bodyPr wrap="square" lIns="0" tIns="0" rIns="0" bIns="0" rtlCol="0" anchor="t"/>
          <a:lstStyle/>
          <a:p>
            <a:pPr marL="0" indent="0" algn="l">
              <a:lnSpc>
                <a:spcPts val="2400"/>
              </a:lnSpc>
              <a:buNone/>
            </a:pPr>
            <a:r>
              <a:rPr lang="en-US" dirty="0">
                <a:solidFill>
                  <a:srgbClr val="333F70"/>
                </a:solidFill>
                <a:latin typeface="Open Sans" pitchFamily="34" charset="0"/>
                <a:ea typeface="Open Sans" pitchFamily="34" charset="-122"/>
                <a:cs typeface="Open Sans" pitchFamily="34" charset="-120"/>
              </a:rPr>
              <a:t>Process billions of micro-transactions efficiently. Hedera's predictable, low-cost fees (fraction of a penny) make our reward model economically viable at global scale.</a:t>
            </a:r>
            <a:endParaRPr lang="en-US" dirty="0"/>
          </a:p>
        </p:txBody>
      </p:sp>
      <p:sp>
        <p:nvSpPr>
          <p:cNvPr id="14" name="Shape 10"/>
          <p:cNvSpPr/>
          <p:nvPr/>
        </p:nvSpPr>
        <p:spPr>
          <a:xfrm>
            <a:off x="679133" y="5012055"/>
            <a:ext cx="6539032" cy="2530197"/>
          </a:xfrm>
          <a:prstGeom prst="roundRect">
            <a:avLst>
              <a:gd name="adj" fmla="val 3221"/>
            </a:avLst>
          </a:prstGeom>
          <a:solidFill>
            <a:srgbClr val="D6F5EE"/>
          </a:solidFill>
          <a:ln w="7620">
            <a:solidFill>
              <a:srgbClr val="BCDBD4"/>
            </a:solidFill>
            <a:prstDash val="solid"/>
          </a:ln>
        </p:spPr>
        <p:txBody>
          <a:bodyPr/>
          <a:lstStyle/>
          <a:p>
            <a:endParaRPr lang="en-US"/>
          </a:p>
        </p:txBody>
      </p:sp>
      <p:sp>
        <p:nvSpPr>
          <p:cNvPr id="15" name="Shape 11"/>
          <p:cNvSpPr/>
          <p:nvPr/>
        </p:nvSpPr>
        <p:spPr>
          <a:xfrm>
            <a:off x="880705" y="5213628"/>
            <a:ext cx="582097" cy="582097"/>
          </a:xfrm>
          <a:prstGeom prst="roundRect">
            <a:avLst>
              <a:gd name="adj" fmla="val 15707151"/>
            </a:avLst>
          </a:prstGeom>
          <a:solidFill>
            <a:srgbClr val="26A688"/>
          </a:solidFill>
          <a:ln/>
        </p:spPr>
        <p:txBody>
          <a:bodyPr/>
          <a:lstStyle/>
          <a:p>
            <a:endParaRPr lang="en-US"/>
          </a:p>
        </p:txBody>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0725" y="5373648"/>
            <a:ext cx="261937" cy="261937"/>
          </a:xfrm>
          <a:prstGeom prst="rect">
            <a:avLst/>
          </a:prstGeom>
        </p:spPr>
      </p:pic>
      <p:sp>
        <p:nvSpPr>
          <p:cNvPr id="17" name="Text 12"/>
          <p:cNvSpPr/>
          <p:nvPr/>
        </p:nvSpPr>
        <p:spPr>
          <a:xfrm>
            <a:off x="880705" y="5989677"/>
            <a:ext cx="2473166" cy="303133"/>
          </a:xfrm>
          <a:prstGeom prst="rect">
            <a:avLst/>
          </a:prstGeom>
          <a:noFill/>
          <a:ln/>
        </p:spPr>
        <p:txBody>
          <a:bodyPr wrap="none" lIns="0" tIns="0" rIns="0" bIns="0" rtlCol="0" anchor="t"/>
          <a:lstStyle/>
          <a:p>
            <a:pPr marL="0" indent="0" algn="l">
              <a:lnSpc>
                <a:spcPts val="2350"/>
              </a:lnSpc>
              <a:buNone/>
            </a:pPr>
            <a:r>
              <a:rPr lang="en-US" sz="1900" b="1" dirty="0">
                <a:solidFill>
                  <a:srgbClr val="333F70"/>
                </a:solidFill>
                <a:latin typeface="Unbounded Bold" pitchFamily="34" charset="0"/>
                <a:ea typeface="Unbounded Bold" pitchFamily="34" charset="-122"/>
                <a:cs typeface="Unbounded Bold" pitchFamily="34" charset="-120"/>
              </a:rPr>
              <a:t>ESG Credentials</a:t>
            </a:r>
            <a:endParaRPr lang="en-US" sz="1900" dirty="0"/>
          </a:p>
        </p:txBody>
      </p:sp>
      <p:sp>
        <p:nvSpPr>
          <p:cNvPr id="18" name="Text 13"/>
          <p:cNvSpPr/>
          <p:nvPr/>
        </p:nvSpPr>
        <p:spPr>
          <a:xfrm>
            <a:off x="880705" y="6409134"/>
            <a:ext cx="6135886" cy="931545"/>
          </a:xfrm>
          <a:prstGeom prst="rect">
            <a:avLst/>
          </a:prstGeom>
          <a:noFill/>
          <a:ln/>
        </p:spPr>
        <p:txBody>
          <a:bodyPr wrap="square" lIns="0" tIns="0" rIns="0" bIns="0" rtlCol="0" anchor="t"/>
          <a:lstStyle/>
          <a:p>
            <a:pPr marL="0" indent="0" algn="l">
              <a:lnSpc>
                <a:spcPts val="2400"/>
              </a:lnSpc>
              <a:buNone/>
            </a:pPr>
            <a:r>
              <a:rPr lang="en-US" dirty="0">
                <a:solidFill>
                  <a:srgbClr val="333F70"/>
                </a:solidFill>
                <a:latin typeface="Open Sans" pitchFamily="34" charset="0"/>
                <a:ea typeface="Open Sans" pitchFamily="34" charset="-122"/>
                <a:cs typeface="Open Sans" pitchFamily="34" charset="-120"/>
              </a:rPr>
              <a:t>Hedera's carbon-negative commitment and energy efficiency perfectly align with our mission to build a healthier, sustainable future.</a:t>
            </a:r>
            <a:endParaRPr lang="en-US" dirty="0"/>
          </a:p>
        </p:txBody>
      </p:sp>
      <p:sp>
        <p:nvSpPr>
          <p:cNvPr id="19" name="Shape 14"/>
          <p:cNvSpPr/>
          <p:nvPr/>
        </p:nvSpPr>
        <p:spPr>
          <a:xfrm>
            <a:off x="7412117" y="5012055"/>
            <a:ext cx="6539151" cy="2530197"/>
          </a:xfrm>
          <a:prstGeom prst="roundRect">
            <a:avLst>
              <a:gd name="adj" fmla="val 3221"/>
            </a:avLst>
          </a:prstGeom>
          <a:solidFill>
            <a:srgbClr val="D6F5EE"/>
          </a:solidFill>
          <a:ln w="7620">
            <a:solidFill>
              <a:srgbClr val="BCDBD4"/>
            </a:solidFill>
            <a:prstDash val="solid"/>
          </a:ln>
        </p:spPr>
        <p:txBody>
          <a:bodyPr/>
          <a:lstStyle/>
          <a:p>
            <a:endParaRPr lang="en-US"/>
          </a:p>
        </p:txBody>
      </p:sp>
      <p:sp>
        <p:nvSpPr>
          <p:cNvPr id="20" name="Shape 15"/>
          <p:cNvSpPr/>
          <p:nvPr/>
        </p:nvSpPr>
        <p:spPr>
          <a:xfrm>
            <a:off x="7613690" y="5213628"/>
            <a:ext cx="582097" cy="582097"/>
          </a:xfrm>
          <a:prstGeom prst="roundRect">
            <a:avLst>
              <a:gd name="adj" fmla="val 15707151"/>
            </a:avLst>
          </a:prstGeom>
          <a:solidFill>
            <a:srgbClr val="26A688"/>
          </a:solidFill>
          <a:ln/>
        </p:spPr>
        <p:txBody>
          <a:bodyPr/>
          <a:lstStyle/>
          <a:p>
            <a:endParaRPr lang="en-US"/>
          </a:p>
        </p:txBody>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73710" y="5373648"/>
            <a:ext cx="261937" cy="261937"/>
          </a:xfrm>
          <a:prstGeom prst="rect">
            <a:avLst/>
          </a:prstGeom>
        </p:spPr>
      </p:pic>
      <p:sp>
        <p:nvSpPr>
          <p:cNvPr id="22" name="Text 16"/>
          <p:cNvSpPr/>
          <p:nvPr/>
        </p:nvSpPr>
        <p:spPr>
          <a:xfrm>
            <a:off x="7613690" y="5989677"/>
            <a:ext cx="2627352" cy="303133"/>
          </a:xfrm>
          <a:prstGeom prst="rect">
            <a:avLst/>
          </a:prstGeom>
          <a:noFill/>
          <a:ln/>
        </p:spPr>
        <p:txBody>
          <a:bodyPr wrap="none" lIns="0" tIns="0" rIns="0" bIns="0" rtlCol="0" anchor="t"/>
          <a:lstStyle/>
          <a:p>
            <a:pPr marL="0" indent="0" algn="l">
              <a:lnSpc>
                <a:spcPts val="2350"/>
              </a:lnSpc>
              <a:buNone/>
            </a:pPr>
            <a:r>
              <a:rPr lang="en-US" sz="1900" b="1" dirty="0">
                <a:solidFill>
                  <a:srgbClr val="333F70"/>
                </a:solidFill>
                <a:latin typeface="Unbounded Bold" pitchFamily="34" charset="0"/>
                <a:ea typeface="Unbounded Bold" pitchFamily="34" charset="-122"/>
                <a:cs typeface="Unbounded Bold" pitchFamily="34" charset="-120"/>
              </a:rPr>
              <a:t>Enterprise Ready</a:t>
            </a:r>
            <a:endParaRPr lang="en-US" sz="1900" dirty="0"/>
          </a:p>
        </p:txBody>
      </p:sp>
      <p:sp>
        <p:nvSpPr>
          <p:cNvPr id="23" name="Text 17"/>
          <p:cNvSpPr/>
          <p:nvPr/>
        </p:nvSpPr>
        <p:spPr>
          <a:xfrm>
            <a:off x="7613690" y="6409134"/>
            <a:ext cx="6136005" cy="931545"/>
          </a:xfrm>
          <a:prstGeom prst="rect">
            <a:avLst/>
          </a:prstGeom>
          <a:noFill/>
          <a:ln/>
        </p:spPr>
        <p:txBody>
          <a:bodyPr wrap="square" lIns="0" tIns="0" rIns="0" bIns="0" rtlCol="0" anchor="t"/>
          <a:lstStyle/>
          <a:p>
            <a:pPr marL="0" indent="0" algn="l">
              <a:lnSpc>
                <a:spcPts val="2400"/>
              </a:lnSpc>
              <a:buNone/>
            </a:pPr>
            <a:r>
              <a:rPr lang="en-US" dirty="0">
                <a:solidFill>
                  <a:srgbClr val="333F70"/>
                </a:solidFill>
                <a:latin typeface="Open Sans" pitchFamily="34" charset="0"/>
                <a:ea typeface="Open Sans" pitchFamily="34" charset="-122"/>
                <a:cs typeface="Open Sans" pitchFamily="34" charset="-120"/>
              </a:rPr>
              <a:t>The Hedera Governing Council provides stability and enterprise-grade legal framework required for selling data to corporate and government clients.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79239" y="714018"/>
            <a:ext cx="12916257" cy="517088"/>
          </a:xfrm>
          <a:prstGeom prst="rect">
            <a:avLst/>
          </a:prstGeom>
          <a:noFill/>
          <a:ln/>
        </p:spPr>
        <p:txBody>
          <a:bodyPr wrap="none" lIns="0" tIns="0" rIns="0" bIns="0" rtlCol="0" anchor="t"/>
          <a:lstStyle/>
          <a:p>
            <a:pPr marL="0" indent="0" algn="l">
              <a:lnSpc>
                <a:spcPts val="4050"/>
              </a:lnSpc>
              <a:buNone/>
            </a:pPr>
            <a:r>
              <a:rPr lang="en-US" sz="3250" b="1" dirty="0">
                <a:solidFill>
                  <a:srgbClr val="333F70"/>
                </a:solidFill>
                <a:latin typeface="Unbounded Bold" pitchFamily="34" charset="0"/>
                <a:ea typeface="Unbounded Bold" pitchFamily="34" charset="-122"/>
                <a:cs typeface="Unbounded Bold" pitchFamily="34" charset="-120"/>
              </a:rPr>
              <a:t>Mapping the $100B Environmental Data Economy</a:t>
            </a:r>
            <a:endParaRPr lang="en-US" sz="3250" dirty="0"/>
          </a:p>
        </p:txBody>
      </p:sp>
      <p:pic>
        <p:nvPicPr>
          <p:cNvPr id="3" name="Image 0" descr="preencoded.png"/>
          <p:cNvPicPr>
            <a:picLocks noChangeAspect="1"/>
          </p:cNvPicPr>
          <p:nvPr/>
        </p:nvPicPr>
        <p:blipFill>
          <a:blip r:embed="rId3"/>
          <a:stretch>
            <a:fillRect/>
          </a:stretch>
        </p:blipFill>
        <p:spPr>
          <a:xfrm>
            <a:off x="2835712" y="1562100"/>
            <a:ext cx="2222778" cy="953691"/>
          </a:xfrm>
          <a:prstGeom prst="rect">
            <a:avLst/>
          </a:prstGeom>
        </p:spPr>
      </p:pic>
      <p:sp>
        <p:nvSpPr>
          <p:cNvPr id="4" name="Text 1"/>
          <p:cNvSpPr/>
          <p:nvPr/>
        </p:nvSpPr>
        <p:spPr>
          <a:xfrm>
            <a:off x="3830717" y="2011680"/>
            <a:ext cx="232648" cy="290870"/>
          </a:xfrm>
          <a:prstGeom prst="rect">
            <a:avLst/>
          </a:prstGeom>
          <a:noFill/>
          <a:ln/>
        </p:spPr>
        <p:txBody>
          <a:bodyPr wrap="none" lIns="0" tIns="0" rIns="0" bIns="0" rtlCol="0" anchor="t"/>
          <a:lstStyle/>
          <a:p>
            <a:pPr marL="0" indent="0" algn="ctr">
              <a:lnSpc>
                <a:spcPts val="2900"/>
              </a:lnSpc>
              <a:buNone/>
            </a:pPr>
            <a:r>
              <a:rPr lang="en-US" sz="1800" b="1" dirty="0">
                <a:solidFill>
                  <a:srgbClr val="333F70"/>
                </a:solidFill>
                <a:latin typeface="Unbounded Bold" pitchFamily="34" charset="0"/>
                <a:ea typeface="Unbounded Bold" pitchFamily="34" charset="-122"/>
                <a:cs typeface="Unbounded Bold" pitchFamily="34" charset="-120"/>
              </a:rPr>
              <a:t>1</a:t>
            </a:r>
            <a:endParaRPr lang="en-US" sz="1800" dirty="0"/>
          </a:p>
        </p:txBody>
      </p:sp>
      <p:sp>
        <p:nvSpPr>
          <p:cNvPr id="5" name="Text 2"/>
          <p:cNvSpPr/>
          <p:nvPr/>
        </p:nvSpPr>
        <p:spPr>
          <a:xfrm>
            <a:off x="5223986" y="1727597"/>
            <a:ext cx="2068830" cy="258604"/>
          </a:xfrm>
          <a:prstGeom prst="rect">
            <a:avLst/>
          </a:prstGeom>
          <a:noFill/>
          <a:ln/>
        </p:spPr>
        <p:txBody>
          <a:bodyPr wrap="none" lIns="0" tIns="0" rIns="0" bIns="0" rtlCol="0" anchor="t"/>
          <a:lstStyle/>
          <a:p>
            <a:pPr marL="0" indent="0" algn="l">
              <a:lnSpc>
                <a:spcPts val="2000"/>
              </a:lnSpc>
              <a:buNone/>
            </a:pPr>
            <a:r>
              <a:rPr lang="en-US" sz="1600" b="1" dirty="0">
                <a:solidFill>
                  <a:srgbClr val="333F70"/>
                </a:solidFill>
                <a:latin typeface="Unbounded Bold" pitchFamily="34" charset="0"/>
                <a:ea typeface="Unbounded Bold" pitchFamily="34" charset="-122"/>
                <a:cs typeface="Unbounded Bold" pitchFamily="34" charset="-120"/>
              </a:rPr>
              <a:t>TAM: $100B+</a:t>
            </a:r>
            <a:endParaRPr lang="en-US" sz="1600" dirty="0"/>
          </a:p>
        </p:txBody>
      </p:sp>
      <p:sp>
        <p:nvSpPr>
          <p:cNvPr id="6" name="Text 3"/>
          <p:cNvSpPr/>
          <p:nvPr/>
        </p:nvSpPr>
        <p:spPr>
          <a:xfrm>
            <a:off x="5223986" y="2085499"/>
            <a:ext cx="4783217" cy="264795"/>
          </a:xfrm>
          <a:prstGeom prst="rect">
            <a:avLst/>
          </a:prstGeom>
          <a:noFill/>
          <a:ln/>
        </p:spPr>
        <p:txBody>
          <a:bodyPr wrap="none" lIns="0" tIns="0" rIns="0" bIns="0" rtlCol="0" anchor="t"/>
          <a:lstStyle/>
          <a:p>
            <a:pPr marL="0" indent="0" algn="l">
              <a:lnSpc>
                <a:spcPts val="2050"/>
              </a:lnSpc>
              <a:buNone/>
            </a:pPr>
            <a:r>
              <a:rPr lang="en-US" sz="1300" dirty="0">
                <a:solidFill>
                  <a:srgbClr val="333F70"/>
                </a:solidFill>
                <a:latin typeface="Open Sans" pitchFamily="34" charset="0"/>
                <a:ea typeface="Open Sans" pitchFamily="34" charset="-122"/>
                <a:cs typeface="Open Sans" pitchFamily="34" charset="-120"/>
              </a:rPr>
              <a:t>Global environmental/urban data and ESG compliance market</a:t>
            </a:r>
            <a:endParaRPr lang="en-US" sz="1300" dirty="0"/>
          </a:p>
        </p:txBody>
      </p:sp>
      <p:sp>
        <p:nvSpPr>
          <p:cNvPr id="7" name="Shape 4"/>
          <p:cNvSpPr/>
          <p:nvPr/>
        </p:nvSpPr>
        <p:spPr>
          <a:xfrm>
            <a:off x="5099804" y="2526863"/>
            <a:ext cx="8910042" cy="11430"/>
          </a:xfrm>
          <a:prstGeom prst="roundRect">
            <a:avLst>
              <a:gd name="adj" fmla="val 608166"/>
            </a:avLst>
          </a:prstGeom>
          <a:solidFill>
            <a:srgbClr val="BCDBD4"/>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1724263" y="2557105"/>
            <a:ext cx="4445675" cy="953691"/>
          </a:xfrm>
          <a:prstGeom prst="rect">
            <a:avLst/>
          </a:prstGeom>
        </p:spPr>
      </p:pic>
      <p:sp>
        <p:nvSpPr>
          <p:cNvPr id="9" name="Text 5"/>
          <p:cNvSpPr/>
          <p:nvPr/>
        </p:nvSpPr>
        <p:spPr>
          <a:xfrm>
            <a:off x="3830717" y="2888456"/>
            <a:ext cx="232648" cy="290870"/>
          </a:xfrm>
          <a:prstGeom prst="rect">
            <a:avLst/>
          </a:prstGeom>
          <a:noFill/>
          <a:ln/>
        </p:spPr>
        <p:txBody>
          <a:bodyPr wrap="none" lIns="0" tIns="0" rIns="0" bIns="0" rtlCol="0" anchor="t"/>
          <a:lstStyle/>
          <a:p>
            <a:pPr marL="0" indent="0" algn="ctr">
              <a:lnSpc>
                <a:spcPts val="2900"/>
              </a:lnSpc>
              <a:buNone/>
            </a:pPr>
            <a:r>
              <a:rPr lang="en-US" sz="1800" b="1" dirty="0">
                <a:solidFill>
                  <a:srgbClr val="333F70"/>
                </a:solidFill>
                <a:latin typeface="Unbounded Bold" pitchFamily="34" charset="0"/>
                <a:ea typeface="Unbounded Bold" pitchFamily="34" charset="-122"/>
                <a:cs typeface="Unbounded Bold" pitchFamily="34" charset="-120"/>
              </a:rPr>
              <a:t>2</a:t>
            </a:r>
            <a:endParaRPr lang="en-US" sz="1800" dirty="0"/>
          </a:p>
        </p:txBody>
      </p:sp>
      <p:sp>
        <p:nvSpPr>
          <p:cNvPr id="10" name="Text 6"/>
          <p:cNvSpPr/>
          <p:nvPr/>
        </p:nvSpPr>
        <p:spPr>
          <a:xfrm>
            <a:off x="6335435" y="2722602"/>
            <a:ext cx="2068830" cy="258604"/>
          </a:xfrm>
          <a:prstGeom prst="rect">
            <a:avLst/>
          </a:prstGeom>
          <a:noFill/>
          <a:ln/>
        </p:spPr>
        <p:txBody>
          <a:bodyPr wrap="none" lIns="0" tIns="0" rIns="0" bIns="0" rtlCol="0" anchor="t"/>
          <a:lstStyle/>
          <a:p>
            <a:pPr marL="0" indent="0" algn="l">
              <a:lnSpc>
                <a:spcPts val="2000"/>
              </a:lnSpc>
              <a:buNone/>
            </a:pPr>
            <a:r>
              <a:rPr lang="en-US" sz="1600" b="1" dirty="0">
                <a:solidFill>
                  <a:srgbClr val="333F70"/>
                </a:solidFill>
                <a:latin typeface="Unbounded Bold" pitchFamily="34" charset="0"/>
                <a:ea typeface="Unbounded Bold" pitchFamily="34" charset="-122"/>
                <a:cs typeface="Unbounded Bold" pitchFamily="34" charset="-120"/>
              </a:rPr>
              <a:t>SAM: $10B</a:t>
            </a:r>
            <a:endParaRPr lang="en-US" sz="1600" dirty="0"/>
          </a:p>
        </p:txBody>
      </p:sp>
      <p:sp>
        <p:nvSpPr>
          <p:cNvPr id="11" name="Text 7"/>
          <p:cNvSpPr/>
          <p:nvPr/>
        </p:nvSpPr>
        <p:spPr>
          <a:xfrm>
            <a:off x="6335435" y="3080504"/>
            <a:ext cx="5612249" cy="264795"/>
          </a:xfrm>
          <a:prstGeom prst="rect">
            <a:avLst/>
          </a:prstGeom>
          <a:noFill/>
          <a:ln/>
        </p:spPr>
        <p:txBody>
          <a:bodyPr wrap="none" lIns="0" tIns="0" rIns="0" bIns="0" rtlCol="0" anchor="t"/>
          <a:lstStyle/>
          <a:p>
            <a:pPr marL="0" indent="0" algn="l">
              <a:lnSpc>
                <a:spcPts val="2050"/>
              </a:lnSpc>
              <a:buNone/>
            </a:pPr>
            <a:r>
              <a:rPr lang="en-US" sz="1300" dirty="0">
                <a:solidFill>
                  <a:srgbClr val="333F70"/>
                </a:solidFill>
                <a:latin typeface="Open Sans" pitchFamily="34" charset="0"/>
                <a:ea typeface="Open Sans" pitchFamily="34" charset="-122"/>
                <a:cs typeface="Open Sans" pitchFamily="34" charset="-120"/>
              </a:rPr>
              <a:t>Hyperlocal acoustic data in top 50 global megacities (Lagos, Cairo, Kenya)</a:t>
            </a:r>
            <a:endParaRPr lang="en-US" sz="1300" dirty="0"/>
          </a:p>
        </p:txBody>
      </p:sp>
      <p:sp>
        <p:nvSpPr>
          <p:cNvPr id="12" name="Shape 8"/>
          <p:cNvSpPr/>
          <p:nvPr/>
        </p:nvSpPr>
        <p:spPr>
          <a:xfrm>
            <a:off x="6211253" y="3521869"/>
            <a:ext cx="7798594" cy="11430"/>
          </a:xfrm>
          <a:prstGeom prst="roundRect">
            <a:avLst>
              <a:gd name="adj" fmla="val 608166"/>
            </a:avLst>
          </a:prstGeom>
          <a:solidFill>
            <a:srgbClr val="BCDBD4"/>
          </a:solidFill>
          <a:ln/>
        </p:spPr>
        <p:txBody>
          <a:bodyPr/>
          <a:lstStyle/>
          <a:p>
            <a:endParaRPr lang="en-US"/>
          </a:p>
        </p:txBody>
      </p:sp>
      <p:pic>
        <p:nvPicPr>
          <p:cNvPr id="13" name="Image 2" descr="preencoded.png"/>
          <p:cNvPicPr>
            <a:picLocks noChangeAspect="1"/>
          </p:cNvPicPr>
          <p:nvPr/>
        </p:nvPicPr>
        <p:blipFill>
          <a:blip r:embed="rId5"/>
          <a:stretch>
            <a:fillRect/>
          </a:stretch>
        </p:blipFill>
        <p:spPr>
          <a:xfrm>
            <a:off x="612815" y="3552111"/>
            <a:ext cx="6668572" cy="953691"/>
          </a:xfrm>
          <a:prstGeom prst="rect">
            <a:avLst/>
          </a:prstGeom>
        </p:spPr>
      </p:pic>
      <p:sp>
        <p:nvSpPr>
          <p:cNvPr id="14" name="Text 9"/>
          <p:cNvSpPr/>
          <p:nvPr/>
        </p:nvSpPr>
        <p:spPr>
          <a:xfrm>
            <a:off x="3830717" y="3883462"/>
            <a:ext cx="232648" cy="290870"/>
          </a:xfrm>
          <a:prstGeom prst="rect">
            <a:avLst/>
          </a:prstGeom>
          <a:noFill/>
          <a:ln/>
        </p:spPr>
        <p:txBody>
          <a:bodyPr wrap="none" lIns="0" tIns="0" rIns="0" bIns="0" rtlCol="0" anchor="t"/>
          <a:lstStyle/>
          <a:p>
            <a:pPr marL="0" indent="0" algn="ctr">
              <a:lnSpc>
                <a:spcPts val="2900"/>
              </a:lnSpc>
              <a:buNone/>
            </a:pPr>
            <a:r>
              <a:rPr lang="en-US" sz="1800" b="1" dirty="0">
                <a:solidFill>
                  <a:srgbClr val="333F70"/>
                </a:solidFill>
                <a:latin typeface="Unbounded Bold" pitchFamily="34" charset="0"/>
                <a:ea typeface="Unbounded Bold" pitchFamily="34" charset="-122"/>
                <a:cs typeface="Unbounded Bold" pitchFamily="34" charset="-120"/>
              </a:rPr>
              <a:t>3</a:t>
            </a:r>
            <a:endParaRPr lang="en-US" sz="1800" dirty="0"/>
          </a:p>
        </p:txBody>
      </p:sp>
      <p:sp>
        <p:nvSpPr>
          <p:cNvPr id="15" name="Text 10"/>
          <p:cNvSpPr/>
          <p:nvPr/>
        </p:nvSpPr>
        <p:spPr>
          <a:xfrm>
            <a:off x="7446883" y="3717608"/>
            <a:ext cx="2550438" cy="258604"/>
          </a:xfrm>
          <a:prstGeom prst="rect">
            <a:avLst/>
          </a:prstGeom>
          <a:noFill/>
          <a:ln/>
        </p:spPr>
        <p:txBody>
          <a:bodyPr wrap="none" lIns="0" tIns="0" rIns="0" bIns="0" rtlCol="0" anchor="t"/>
          <a:lstStyle/>
          <a:p>
            <a:pPr marL="0" indent="0" algn="l">
              <a:lnSpc>
                <a:spcPts val="2000"/>
              </a:lnSpc>
              <a:buNone/>
            </a:pPr>
            <a:r>
              <a:rPr lang="en-US" sz="1600" b="1" dirty="0">
                <a:solidFill>
                  <a:srgbClr val="333F70"/>
                </a:solidFill>
                <a:latin typeface="Unbounded Bold" pitchFamily="34" charset="0"/>
                <a:ea typeface="Unbounded Bold" pitchFamily="34" charset="-122"/>
                <a:cs typeface="Unbounded Bold" pitchFamily="34" charset="-120"/>
              </a:rPr>
              <a:t>SOM: $50M (Year 3)</a:t>
            </a:r>
            <a:endParaRPr lang="en-US" sz="1600" dirty="0"/>
          </a:p>
        </p:txBody>
      </p:sp>
      <p:sp>
        <p:nvSpPr>
          <p:cNvPr id="16" name="Text 11"/>
          <p:cNvSpPr/>
          <p:nvPr/>
        </p:nvSpPr>
        <p:spPr>
          <a:xfrm>
            <a:off x="7446883" y="4075509"/>
            <a:ext cx="5070157" cy="264795"/>
          </a:xfrm>
          <a:prstGeom prst="rect">
            <a:avLst/>
          </a:prstGeom>
          <a:noFill/>
          <a:ln/>
        </p:spPr>
        <p:txBody>
          <a:bodyPr wrap="none" lIns="0" tIns="0" rIns="0" bIns="0" rtlCol="0" anchor="t"/>
          <a:lstStyle/>
          <a:p>
            <a:pPr marL="0" indent="0" algn="l">
              <a:lnSpc>
                <a:spcPts val="2050"/>
              </a:lnSpc>
              <a:buNone/>
            </a:pPr>
            <a:r>
              <a:rPr lang="en-US" sz="1300" dirty="0">
                <a:solidFill>
                  <a:srgbClr val="333F70"/>
                </a:solidFill>
                <a:latin typeface="Open Sans" pitchFamily="34" charset="0"/>
                <a:ea typeface="Open Sans" pitchFamily="34" charset="-122"/>
                <a:cs typeface="Open Sans" pitchFamily="34" charset="-120"/>
              </a:rPr>
              <a:t>Data sales in 5 key African cities and 10 major corporate contracts</a:t>
            </a:r>
            <a:endParaRPr lang="en-US" sz="1300" dirty="0"/>
          </a:p>
        </p:txBody>
      </p:sp>
      <p:sp>
        <p:nvSpPr>
          <p:cNvPr id="17" name="Text 12"/>
          <p:cNvSpPr/>
          <p:nvPr/>
        </p:nvSpPr>
        <p:spPr>
          <a:xfrm>
            <a:off x="579239" y="4754047"/>
            <a:ext cx="2856667" cy="310277"/>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Target Customers</a:t>
            </a:r>
            <a:endParaRPr lang="en-US" sz="1950" dirty="0"/>
          </a:p>
        </p:txBody>
      </p:sp>
      <p:sp>
        <p:nvSpPr>
          <p:cNvPr id="18" name="Text 13"/>
          <p:cNvSpPr/>
          <p:nvPr/>
        </p:nvSpPr>
        <p:spPr>
          <a:xfrm>
            <a:off x="579239" y="5478066"/>
            <a:ext cx="2068830" cy="258604"/>
          </a:xfrm>
          <a:prstGeom prst="rect">
            <a:avLst/>
          </a:prstGeom>
          <a:noFill/>
          <a:ln/>
        </p:spPr>
        <p:txBody>
          <a:bodyPr wrap="none" lIns="0" tIns="0" rIns="0" bIns="0" rtlCol="0" anchor="t"/>
          <a:lstStyle/>
          <a:p>
            <a:pPr marL="0" indent="0" algn="l">
              <a:lnSpc>
                <a:spcPts val="2000"/>
              </a:lnSpc>
              <a:buNone/>
            </a:pPr>
            <a:r>
              <a:rPr lang="en-US" sz="1600" b="1" dirty="0">
                <a:solidFill>
                  <a:srgbClr val="333F70"/>
                </a:solidFill>
                <a:latin typeface="Unbounded Bold" pitchFamily="34" charset="0"/>
                <a:ea typeface="Unbounded Bold" pitchFamily="34" charset="-122"/>
                <a:cs typeface="Unbounded Bold" pitchFamily="34" charset="-120"/>
              </a:rPr>
              <a:t>Primary Buyers</a:t>
            </a:r>
            <a:endParaRPr lang="en-US" sz="1600" dirty="0"/>
          </a:p>
        </p:txBody>
      </p:sp>
      <p:sp>
        <p:nvSpPr>
          <p:cNvPr id="19" name="Text 14"/>
          <p:cNvSpPr/>
          <p:nvPr/>
        </p:nvSpPr>
        <p:spPr>
          <a:xfrm>
            <a:off x="579239" y="5902166"/>
            <a:ext cx="6534150" cy="264795"/>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333F70"/>
                </a:solidFill>
                <a:latin typeface="Open Sans" pitchFamily="34" charset="0"/>
                <a:ea typeface="Open Sans" pitchFamily="34" charset="-122"/>
                <a:cs typeface="Open Sans" pitchFamily="34" charset="-120"/>
              </a:rPr>
              <a:t>African municipalities</a:t>
            </a:r>
            <a:endParaRPr lang="en-US" sz="1300" dirty="0"/>
          </a:p>
        </p:txBody>
      </p:sp>
      <p:sp>
        <p:nvSpPr>
          <p:cNvPr id="20" name="Text 15"/>
          <p:cNvSpPr/>
          <p:nvPr/>
        </p:nvSpPr>
        <p:spPr>
          <a:xfrm>
            <a:off x="579239" y="6224826"/>
            <a:ext cx="6534150" cy="264795"/>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333F70"/>
                </a:solidFill>
                <a:latin typeface="Open Sans" pitchFamily="34" charset="0"/>
                <a:ea typeface="Open Sans" pitchFamily="34" charset="-122"/>
                <a:cs typeface="Open Sans" pitchFamily="34" charset="-120"/>
              </a:rPr>
              <a:t>African Governments</a:t>
            </a:r>
            <a:endParaRPr lang="en-US" sz="1300" dirty="0"/>
          </a:p>
        </p:txBody>
      </p:sp>
      <p:sp>
        <p:nvSpPr>
          <p:cNvPr id="21" name="Text 16"/>
          <p:cNvSpPr/>
          <p:nvPr/>
        </p:nvSpPr>
        <p:spPr>
          <a:xfrm>
            <a:off x="579239" y="6547485"/>
            <a:ext cx="6534150" cy="264795"/>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333F70"/>
                </a:solidFill>
                <a:latin typeface="Open Sans" pitchFamily="34" charset="0"/>
                <a:ea typeface="Open Sans" pitchFamily="34" charset="-122"/>
                <a:cs typeface="Open Sans" pitchFamily="34" charset="-120"/>
              </a:rPr>
              <a:t>Environmental agencies</a:t>
            </a:r>
            <a:endParaRPr lang="en-US" sz="1300" dirty="0"/>
          </a:p>
        </p:txBody>
      </p:sp>
      <p:sp>
        <p:nvSpPr>
          <p:cNvPr id="22" name="Text 17"/>
          <p:cNvSpPr/>
          <p:nvPr/>
        </p:nvSpPr>
        <p:spPr>
          <a:xfrm>
            <a:off x="579239" y="6870144"/>
            <a:ext cx="6534150" cy="264795"/>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333F70"/>
                </a:solidFill>
                <a:latin typeface="Open Sans" pitchFamily="34" charset="0"/>
                <a:ea typeface="Open Sans" pitchFamily="34" charset="-122"/>
                <a:cs typeface="Open Sans" pitchFamily="34" charset="-120"/>
              </a:rPr>
              <a:t>Urban planning firms</a:t>
            </a:r>
            <a:endParaRPr lang="en-US" sz="1300" dirty="0"/>
          </a:p>
        </p:txBody>
      </p:sp>
      <p:sp>
        <p:nvSpPr>
          <p:cNvPr id="23" name="Text 18"/>
          <p:cNvSpPr/>
          <p:nvPr/>
        </p:nvSpPr>
        <p:spPr>
          <a:xfrm>
            <a:off x="579239" y="7192804"/>
            <a:ext cx="6534150" cy="264795"/>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333F70"/>
                </a:solidFill>
                <a:latin typeface="Open Sans" pitchFamily="34" charset="0"/>
                <a:ea typeface="Open Sans" pitchFamily="34" charset="-122"/>
                <a:cs typeface="Open Sans" pitchFamily="34" charset="-120"/>
              </a:rPr>
              <a:t>Real estate developers</a:t>
            </a:r>
            <a:endParaRPr lang="en-US" sz="1300" dirty="0"/>
          </a:p>
        </p:txBody>
      </p:sp>
      <p:sp>
        <p:nvSpPr>
          <p:cNvPr id="24" name="Text 19"/>
          <p:cNvSpPr/>
          <p:nvPr/>
        </p:nvSpPr>
        <p:spPr>
          <a:xfrm>
            <a:off x="7524631" y="5478066"/>
            <a:ext cx="2384346" cy="258604"/>
          </a:xfrm>
          <a:prstGeom prst="rect">
            <a:avLst/>
          </a:prstGeom>
          <a:noFill/>
          <a:ln/>
        </p:spPr>
        <p:txBody>
          <a:bodyPr wrap="none" lIns="0" tIns="0" rIns="0" bIns="0" rtlCol="0" anchor="t"/>
          <a:lstStyle/>
          <a:p>
            <a:pPr marL="0" indent="0" algn="l">
              <a:lnSpc>
                <a:spcPts val="2000"/>
              </a:lnSpc>
              <a:buNone/>
            </a:pPr>
            <a:r>
              <a:rPr lang="en-US" sz="1600" b="1" dirty="0">
                <a:solidFill>
                  <a:srgbClr val="333F70"/>
                </a:solidFill>
                <a:latin typeface="Unbounded Bold" pitchFamily="34" charset="0"/>
                <a:ea typeface="Unbounded Bold" pitchFamily="34" charset="-122"/>
                <a:cs typeface="Unbounded Bold" pitchFamily="34" charset="-120"/>
              </a:rPr>
              <a:t>Secondary Buyers</a:t>
            </a:r>
            <a:endParaRPr lang="en-US" sz="1600" dirty="0"/>
          </a:p>
        </p:txBody>
      </p:sp>
      <p:sp>
        <p:nvSpPr>
          <p:cNvPr id="25" name="Text 20"/>
          <p:cNvSpPr/>
          <p:nvPr/>
        </p:nvSpPr>
        <p:spPr>
          <a:xfrm>
            <a:off x="7524631" y="5902166"/>
            <a:ext cx="6534150" cy="264795"/>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333F70"/>
                </a:solidFill>
                <a:latin typeface="Open Sans" pitchFamily="34" charset="0"/>
                <a:ea typeface="Open Sans" pitchFamily="34" charset="-122"/>
                <a:cs typeface="Open Sans" pitchFamily="34" charset="-120"/>
              </a:rPr>
              <a:t>Hotels and hospitality</a:t>
            </a:r>
            <a:endParaRPr lang="en-US" sz="1300" dirty="0"/>
          </a:p>
        </p:txBody>
      </p:sp>
      <p:sp>
        <p:nvSpPr>
          <p:cNvPr id="26" name="Text 21"/>
          <p:cNvSpPr/>
          <p:nvPr/>
        </p:nvSpPr>
        <p:spPr>
          <a:xfrm>
            <a:off x="7524631" y="6224826"/>
            <a:ext cx="6534150" cy="264795"/>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333F70"/>
                </a:solidFill>
                <a:latin typeface="Open Sans" pitchFamily="34" charset="0"/>
                <a:ea typeface="Open Sans" pitchFamily="34" charset="-122"/>
                <a:cs typeface="Open Sans" pitchFamily="34" charset="-120"/>
              </a:rPr>
              <a:t>Restaurants</a:t>
            </a:r>
            <a:endParaRPr lang="en-US" sz="1300" dirty="0"/>
          </a:p>
        </p:txBody>
      </p:sp>
      <p:sp>
        <p:nvSpPr>
          <p:cNvPr id="27" name="Text 22"/>
          <p:cNvSpPr/>
          <p:nvPr/>
        </p:nvSpPr>
        <p:spPr>
          <a:xfrm>
            <a:off x="7524631" y="6547485"/>
            <a:ext cx="6534150" cy="264795"/>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333F70"/>
                </a:solidFill>
                <a:latin typeface="Open Sans" pitchFamily="34" charset="0"/>
                <a:ea typeface="Open Sans" pitchFamily="34" charset="-122"/>
                <a:cs typeface="Open Sans" pitchFamily="34" charset="-120"/>
              </a:rPr>
              <a:t>Entertainment venues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61605" y="362664"/>
            <a:ext cx="8686562" cy="412194"/>
          </a:xfrm>
          <a:prstGeom prst="rect">
            <a:avLst/>
          </a:prstGeom>
          <a:noFill/>
          <a:ln/>
        </p:spPr>
        <p:txBody>
          <a:bodyPr wrap="none" lIns="0" tIns="0" rIns="0" bIns="0" rtlCol="0" anchor="t"/>
          <a:lstStyle/>
          <a:p>
            <a:pPr marL="0" indent="0" algn="l">
              <a:lnSpc>
                <a:spcPts val="3200"/>
              </a:lnSpc>
              <a:buNone/>
            </a:pPr>
            <a:r>
              <a:rPr lang="en-US" sz="2550" b="1" dirty="0">
                <a:solidFill>
                  <a:srgbClr val="333F70"/>
                </a:solidFill>
                <a:latin typeface="Unbounded Bold" pitchFamily="34" charset="0"/>
                <a:ea typeface="Unbounded Bold" pitchFamily="34" charset="-122"/>
                <a:cs typeface="Unbounded Bold" pitchFamily="34" charset="-120"/>
              </a:rPr>
              <a:t>Architecture: Smartphone to Soundscape</a:t>
            </a:r>
            <a:endParaRPr lang="en-US" sz="2550" dirty="0"/>
          </a:p>
        </p:txBody>
      </p:sp>
      <p:pic>
        <p:nvPicPr>
          <p:cNvPr id="3" name="Image 0" descr="preencoded.png"/>
          <p:cNvPicPr>
            <a:picLocks noChangeAspect="1"/>
          </p:cNvPicPr>
          <p:nvPr/>
        </p:nvPicPr>
        <p:blipFill>
          <a:blip r:embed="rId3"/>
          <a:stretch>
            <a:fillRect/>
          </a:stretch>
        </p:blipFill>
        <p:spPr>
          <a:xfrm>
            <a:off x="466137" y="228847"/>
            <a:ext cx="13707189" cy="6168152"/>
          </a:xfrm>
          <a:prstGeom prst="rect">
            <a:avLst/>
          </a:prstGeom>
        </p:spPr>
      </p:pic>
      <p:sp>
        <p:nvSpPr>
          <p:cNvPr id="4" name="Text 1"/>
          <p:cNvSpPr/>
          <p:nvPr/>
        </p:nvSpPr>
        <p:spPr>
          <a:xfrm>
            <a:off x="2526398" y="1109424"/>
            <a:ext cx="2398726" cy="308253"/>
          </a:xfrm>
          <a:prstGeom prst="rect">
            <a:avLst/>
          </a:prstGeom>
          <a:noFill/>
          <a:ln/>
        </p:spPr>
        <p:txBody>
          <a:bodyPr wrap="square" lIns="0" tIns="0" rIns="0" bIns="0" rtlCol="0" anchor="t"/>
          <a:lstStyle/>
          <a:p>
            <a:pPr marL="0" indent="0" algn="ctr">
              <a:lnSpc>
                <a:spcPts val="1650"/>
              </a:lnSpc>
              <a:buNone/>
            </a:pPr>
            <a:r>
              <a:rPr lang="en-US" sz="1350" b="1" dirty="0">
                <a:solidFill>
                  <a:srgbClr val="333F70"/>
                </a:solidFill>
                <a:latin typeface="Unbounded Bold" pitchFamily="34" charset="0"/>
                <a:ea typeface="Unbounded Bold" pitchFamily="34" charset="-122"/>
                <a:cs typeface="Unbounded Bold" pitchFamily="34" charset="-120"/>
              </a:rPr>
              <a:t>Data Capture</a:t>
            </a:r>
            <a:endParaRPr lang="en-US" sz="1350" dirty="0"/>
          </a:p>
        </p:txBody>
      </p:sp>
      <p:sp>
        <p:nvSpPr>
          <p:cNvPr id="5" name="Text 2"/>
          <p:cNvSpPr/>
          <p:nvPr/>
        </p:nvSpPr>
        <p:spPr>
          <a:xfrm>
            <a:off x="2532987" y="1439634"/>
            <a:ext cx="2398726" cy="593091"/>
          </a:xfrm>
          <a:prstGeom prst="rect">
            <a:avLst/>
          </a:prstGeom>
          <a:noFill/>
          <a:ln/>
        </p:spPr>
        <p:txBody>
          <a:bodyPr wrap="square" lIns="0" tIns="0" rIns="0" bIns="0" rtlCol="0" anchor="t"/>
          <a:lstStyle/>
          <a:p>
            <a:pPr marL="0" indent="0" algn="ctr">
              <a:lnSpc>
                <a:spcPts val="1350"/>
              </a:lnSpc>
              <a:buNone/>
            </a:pPr>
            <a:r>
              <a:rPr lang="en-US" sz="1050" dirty="0">
                <a:solidFill>
                  <a:srgbClr val="333F70"/>
                </a:solidFill>
                <a:latin typeface="Open Sans" pitchFamily="34" charset="0"/>
                <a:ea typeface="Open Sans" pitchFamily="34" charset="-122"/>
                <a:cs typeface="Open Sans" pitchFamily="34" charset="-120"/>
              </a:rPr>
              <a:t>Mobile App collects sound readings</a:t>
            </a:r>
            <a:endParaRPr lang="en-US" sz="1050" dirty="0"/>
          </a:p>
        </p:txBody>
      </p:sp>
      <p:sp>
        <p:nvSpPr>
          <p:cNvPr id="7" name="Text 3"/>
          <p:cNvSpPr/>
          <p:nvPr/>
        </p:nvSpPr>
        <p:spPr>
          <a:xfrm>
            <a:off x="4898764" y="5920879"/>
            <a:ext cx="2411906" cy="370682"/>
          </a:xfrm>
          <a:prstGeom prst="rect">
            <a:avLst/>
          </a:prstGeom>
          <a:noFill/>
          <a:ln/>
        </p:spPr>
        <p:txBody>
          <a:bodyPr wrap="none" lIns="0" tIns="0" rIns="0" bIns="0" rtlCol="0" anchor="t"/>
          <a:lstStyle/>
          <a:p>
            <a:pPr marL="0" indent="0" algn="ctr">
              <a:lnSpc>
                <a:spcPts val="1650"/>
              </a:lnSpc>
              <a:buNone/>
            </a:pPr>
            <a:r>
              <a:rPr lang="en-US" sz="1350" b="1" dirty="0">
                <a:solidFill>
                  <a:srgbClr val="333F70"/>
                </a:solidFill>
                <a:latin typeface="Unbounded Bold" pitchFamily="34" charset="0"/>
                <a:ea typeface="Unbounded Bold" pitchFamily="34" charset="-122"/>
                <a:cs typeface="Unbounded Bold" pitchFamily="34" charset="-120"/>
              </a:rPr>
              <a:t>AI Validation</a:t>
            </a:r>
            <a:endParaRPr lang="en-US" sz="1350" dirty="0"/>
          </a:p>
        </p:txBody>
      </p:sp>
      <p:sp>
        <p:nvSpPr>
          <p:cNvPr id="8" name="Text 4"/>
          <p:cNvSpPr/>
          <p:nvPr/>
        </p:nvSpPr>
        <p:spPr>
          <a:xfrm>
            <a:off x="4898764" y="6396999"/>
            <a:ext cx="2411906" cy="593092"/>
          </a:xfrm>
          <a:prstGeom prst="rect">
            <a:avLst/>
          </a:prstGeom>
          <a:noFill/>
          <a:ln/>
        </p:spPr>
        <p:txBody>
          <a:bodyPr wrap="square" lIns="0" tIns="0" rIns="0" bIns="0" rtlCol="0" anchor="t"/>
          <a:lstStyle/>
          <a:p>
            <a:pPr marL="0" indent="0" algn="ctr">
              <a:lnSpc>
                <a:spcPts val="1350"/>
              </a:lnSpc>
              <a:buNone/>
            </a:pPr>
            <a:r>
              <a:rPr lang="en-US" sz="1050" dirty="0">
                <a:solidFill>
                  <a:srgbClr val="333F70"/>
                </a:solidFill>
                <a:latin typeface="Open Sans" pitchFamily="34" charset="0"/>
                <a:ea typeface="Open Sans" pitchFamily="34" charset="-122"/>
                <a:cs typeface="Open Sans" pitchFamily="34" charset="-120"/>
              </a:rPr>
              <a:t>HushSense classifies and checks integrity</a:t>
            </a:r>
            <a:endParaRPr lang="en-US" sz="1050" dirty="0"/>
          </a:p>
        </p:txBody>
      </p:sp>
      <p:sp>
        <p:nvSpPr>
          <p:cNvPr id="10" name="Text 5"/>
          <p:cNvSpPr/>
          <p:nvPr/>
        </p:nvSpPr>
        <p:spPr>
          <a:xfrm>
            <a:off x="7244770" y="766749"/>
            <a:ext cx="2398726" cy="256117"/>
          </a:xfrm>
          <a:prstGeom prst="rect">
            <a:avLst/>
          </a:prstGeom>
          <a:noFill/>
          <a:ln/>
        </p:spPr>
        <p:txBody>
          <a:bodyPr wrap="square" lIns="0" tIns="0" rIns="0" bIns="0" rtlCol="0" anchor="t"/>
          <a:lstStyle/>
          <a:p>
            <a:pPr marL="0" indent="0" algn="ctr">
              <a:lnSpc>
                <a:spcPts val="1650"/>
              </a:lnSpc>
              <a:buNone/>
            </a:pPr>
            <a:r>
              <a:rPr lang="en-US" sz="1350" b="1" dirty="0">
                <a:solidFill>
                  <a:srgbClr val="333F70"/>
                </a:solidFill>
                <a:latin typeface="Unbounded Bold" pitchFamily="34" charset="0"/>
                <a:ea typeface="Unbounded Bold" pitchFamily="34" charset="-122"/>
                <a:cs typeface="Unbounded Bold" pitchFamily="34" charset="-120"/>
              </a:rPr>
              <a:t>Timestamping</a:t>
            </a:r>
            <a:endParaRPr lang="en-US" sz="1350" dirty="0"/>
          </a:p>
        </p:txBody>
      </p:sp>
      <p:sp>
        <p:nvSpPr>
          <p:cNvPr id="11" name="Text 6"/>
          <p:cNvSpPr/>
          <p:nvPr/>
        </p:nvSpPr>
        <p:spPr>
          <a:xfrm>
            <a:off x="7290900" y="1169908"/>
            <a:ext cx="2398726" cy="1186183"/>
          </a:xfrm>
          <a:prstGeom prst="rect">
            <a:avLst/>
          </a:prstGeom>
          <a:noFill/>
          <a:ln/>
        </p:spPr>
        <p:txBody>
          <a:bodyPr wrap="square" lIns="0" tIns="0" rIns="0" bIns="0" rtlCol="0" anchor="t"/>
          <a:lstStyle/>
          <a:p>
            <a:pPr marL="0" indent="0" algn="ctr">
              <a:lnSpc>
                <a:spcPts val="1350"/>
              </a:lnSpc>
              <a:buNone/>
            </a:pPr>
            <a:r>
              <a:rPr lang="en-US" sz="1050" dirty="0">
                <a:solidFill>
                  <a:srgbClr val="333F70"/>
                </a:solidFill>
                <a:latin typeface="Open Sans" pitchFamily="34" charset="0"/>
                <a:ea typeface="Open Sans" pitchFamily="34" charset="-122"/>
                <a:cs typeface="Open Sans" pitchFamily="34" charset="-120"/>
              </a:rPr>
              <a:t>Hedera Consensus Service records immutable timestamps</a:t>
            </a:r>
            <a:endParaRPr lang="en-US" sz="1050" dirty="0"/>
          </a:p>
        </p:txBody>
      </p:sp>
      <p:pic>
        <p:nvPicPr>
          <p:cNvPr id="12"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224607" y="2922471"/>
            <a:ext cx="531312" cy="531311"/>
          </a:xfrm>
          <a:prstGeom prst="rect">
            <a:avLst/>
          </a:prstGeom>
        </p:spPr>
      </p:pic>
      <p:sp>
        <p:nvSpPr>
          <p:cNvPr id="13" name="Text 7"/>
          <p:cNvSpPr/>
          <p:nvPr/>
        </p:nvSpPr>
        <p:spPr>
          <a:xfrm>
            <a:off x="9617137" y="5772606"/>
            <a:ext cx="2398725" cy="370682"/>
          </a:xfrm>
          <a:prstGeom prst="rect">
            <a:avLst/>
          </a:prstGeom>
          <a:noFill/>
          <a:ln/>
        </p:spPr>
        <p:txBody>
          <a:bodyPr wrap="none" lIns="0" tIns="0" rIns="0" bIns="0" rtlCol="0" anchor="t"/>
          <a:lstStyle/>
          <a:p>
            <a:pPr marL="0" indent="0" algn="ctr">
              <a:lnSpc>
                <a:spcPts val="1650"/>
              </a:lnSpc>
              <a:buNone/>
            </a:pPr>
            <a:r>
              <a:rPr lang="en-US" sz="1350" b="1" dirty="0">
                <a:solidFill>
                  <a:srgbClr val="333F70"/>
                </a:solidFill>
                <a:latin typeface="Unbounded Bold" pitchFamily="34" charset="0"/>
                <a:ea typeface="Unbounded Bold" pitchFamily="34" charset="-122"/>
                <a:cs typeface="Unbounded Bold" pitchFamily="34" charset="-120"/>
              </a:rPr>
              <a:t>Data Access</a:t>
            </a:r>
            <a:endParaRPr lang="en-US" sz="1350" dirty="0"/>
          </a:p>
        </p:txBody>
      </p:sp>
      <p:sp>
        <p:nvSpPr>
          <p:cNvPr id="14" name="Text 8"/>
          <p:cNvSpPr/>
          <p:nvPr/>
        </p:nvSpPr>
        <p:spPr>
          <a:xfrm>
            <a:off x="9617137" y="6248726"/>
            <a:ext cx="2398725" cy="889637"/>
          </a:xfrm>
          <a:prstGeom prst="rect">
            <a:avLst/>
          </a:prstGeom>
          <a:noFill/>
          <a:ln/>
        </p:spPr>
        <p:txBody>
          <a:bodyPr wrap="square" lIns="0" tIns="0" rIns="0" bIns="0" rtlCol="0" anchor="t"/>
          <a:lstStyle/>
          <a:p>
            <a:pPr marL="0" indent="0" algn="ctr">
              <a:lnSpc>
                <a:spcPts val="1350"/>
              </a:lnSpc>
              <a:buNone/>
            </a:pPr>
            <a:r>
              <a:rPr lang="en-US" sz="1050" dirty="0">
                <a:solidFill>
                  <a:srgbClr val="333F70"/>
                </a:solidFill>
                <a:latin typeface="Open Sans" pitchFamily="34" charset="0"/>
                <a:ea typeface="Open Sans" pitchFamily="34" charset="-122"/>
                <a:cs typeface="Open Sans" pitchFamily="34" charset="-120"/>
              </a:rPr>
              <a:t>Decentralised Warehouse provides buyer access</a:t>
            </a:r>
            <a:endParaRPr lang="en-US" sz="1050" dirty="0"/>
          </a:p>
        </p:txBody>
      </p:sp>
      <p:pic>
        <p:nvPicPr>
          <p:cNvPr id="15" name="Image 4"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57434" y="4912623"/>
            <a:ext cx="531311" cy="531311"/>
          </a:xfrm>
          <a:prstGeom prst="rect">
            <a:avLst/>
          </a:prstGeom>
        </p:spPr>
      </p:pic>
      <p:sp>
        <p:nvSpPr>
          <p:cNvPr id="16" name="Text 9"/>
          <p:cNvSpPr/>
          <p:nvPr/>
        </p:nvSpPr>
        <p:spPr>
          <a:xfrm>
            <a:off x="593408" y="6474930"/>
            <a:ext cx="3209568" cy="247293"/>
          </a:xfrm>
          <a:prstGeom prst="rect">
            <a:avLst/>
          </a:prstGeom>
          <a:noFill/>
          <a:ln/>
        </p:spPr>
        <p:txBody>
          <a:bodyPr wrap="none" lIns="0" tIns="0" rIns="0" bIns="0" rtlCol="0" anchor="t"/>
          <a:lstStyle/>
          <a:p>
            <a:pPr marL="0" indent="0" algn="l">
              <a:lnSpc>
                <a:spcPts val="1900"/>
              </a:lnSpc>
              <a:buNone/>
            </a:pPr>
            <a:r>
              <a:rPr lang="en-US" sz="1550" b="1" dirty="0">
                <a:solidFill>
                  <a:srgbClr val="333F70"/>
                </a:solidFill>
                <a:latin typeface="Unbounded Bold" pitchFamily="34" charset="0"/>
                <a:ea typeface="Unbounded Bold" pitchFamily="34" charset="-122"/>
                <a:cs typeface="Unbounded Bold" pitchFamily="34" charset="-120"/>
              </a:rPr>
              <a:t>Hedera Integration Points</a:t>
            </a:r>
            <a:endParaRPr lang="en-US" sz="1550" dirty="0"/>
          </a:p>
        </p:txBody>
      </p:sp>
      <p:sp>
        <p:nvSpPr>
          <p:cNvPr id="17" name="Shape 10"/>
          <p:cNvSpPr/>
          <p:nvPr/>
        </p:nvSpPr>
        <p:spPr>
          <a:xfrm>
            <a:off x="593408" y="6919986"/>
            <a:ext cx="6787634" cy="790218"/>
          </a:xfrm>
          <a:prstGeom prst="roundRect">
            <a:avLst>
              <a:gd name="adj" fmla="val 7011"/>
            </a:avLst>
          </a:prstGeom>
          <a:solidFill>
            <a:srgbClr val="FFFFFF"/>
          </a:solidFill>
          <a:ln w="15240">
            <a:solidFill>
              <a:srgbClr val="BCDBD4"/>
            </a:solidFill>
            <a:prstDash val="solid"/>
          </a:ln>
        </p:spPr>
        <p:txBody>
          <a:bodyPr/>
          <a:lstStyle/>
          <a:p>
            <a:endParaRPr lang="en-US"/>
          </a:p>
        </p:txBody>
      </p:sp>
      <p:sp>
        <p:nvSpPr>
          <p:cNvPr id="18" name="Text 11"/>
          <p:cNvSpPr/>
          <p:nvPr/>
        </p:nvSpPr>
        <p:spPr>
          <a:xfrm>
            <a:off x="740451" y="7067028"/>
            <a:ext cx="3386614" cy="206097"/>
          </a:xfrm>
          <a:prstGeom prst="rect">
            <a:avLst/>
          </a:prstGeom>
          <a:noFill/>
          <a:ln/>
        </p:spPr>
        <p:txBody>
          <a:bodyPr wrap="none" lIns="0" tIns="0" rIns="0" bIns="0" rtlCol="0" anchor="t"/>
          <a:lstStyle/>
          <a:p>
            <a:pPr marL="0" indent="0" algn="l">
              <a:lnSpc>
                <a:spcPts val="1600"/>
              </a:lnSpc>
              <a:buNone/>
            </a:pPr>
            <a:r>
              <a:rPr lang="en-US" sz="1250" b="1" dirty="0">
                <a:solidFill>
                  <a:srgbClr val="333F70"/>
                </a:solidFill>
                <a:latin typeface="Unbounded Bold" pitchFamily="34" charset="0"/>
                <a:ea typeface="Unbounded Bold" pitchFamily="34" charset="-122"/>
                <a:cs typeface="Unbounded Bold" pitchFamily="34" charset="-120"/>
              </a:rPr>
              <a:t>Hedera Consensus Service (HCS)</a:t>
            </a:r>
            <a:endParaRPr lang="en-US" sz="1250" dirty="0"/>
          </a:p>
        </p:txBody>
      </p:sp>
      <p:sp>
        <p:nvSpPr>
          <p:cNvPr id="19" name="Text 12"/>
          <p:cNvSpPr/>
          <p:nvPr/>
        </p:nvSpPr>
        <p:spPr>
          <a:xfrm>
            <a:off x="740451" y="7352182"/>
            <a:ext cx="6493550" cy="210979"/>
          </a:xfrm>
          <a:prstGeom prst="rect">
            <a:avLst/>
          </a:prstGeom>
          <a:noFill/>
          <a:ln/>
        </p:spPr>
        <p:txBody>
          <a:bodyPr wrap="none" lIns="0" tIns="0" rIns="0" bIns="0" rtlCol="0" anchor="t"/>
          <a:lstStyle/>
          <a:p>
            <a:pPr marL="0" indent="0" algn="l">
              <a:lnSpc>
                <a:spcPts val="1650"/>
              </a:lnSpc>
              <a:buNone/>
            </a:pPr>
            <a:r>
              <a:rPr lang="en-US" sz="1000" dirty="0">
                <a:solidFill>
                  <a:srgbClr val="333F70"/>
                </a:solidFill>
                <a:latin typeface="Open Sans" pitchFamily="34" charset="0"/>
                <a:ea typeface="Open Sans" pitchFamily="34" charset="-122"/>
                <a:cs typeface="Open Sans" pitchFamily="34" charset="-120"/>
              </a:rPr>
              <a:t>Recording all validated  transactionand minting of NFT with immutable timestamps</a:t>
            </a:r>
            <a:endParaRPr lang="en-US" sz="1000" dirty="0"/>
          </a:p>
        </p:txBody>
      </p:sp>
      <p:sp>
        <p:nvSpPr>
          <p:cNvPr id="20" name="Shape 13"/>
          <p:cNvSpPr/>
          <p:nvPr/>
        </p:nvSpPr>
        <p:spPr>
          <a:xfrm>
            <a:off x="7512845" y="6919986"/>
            <a:ext cx="6787753" cy="790218"/>
          </a:xfrm>
          <a:prstGeom prst="roundRect">
            <a:avLst>
              <a:gd name="adj" fmla="val 7011"/>
            </a:avLst>
          </a:prstGeom>
          <a:solidFill>
            <a:srgbClr val="FFFFFF"/>
          </a:solidFill>
          <a:ln w="15240">
            <a:solidFill>
              <a:srgbClr val="BCDBD4"/>
            </a:solidFill>
            <a:prstDash val="solid"/>
          </a:ln>
        </p:spPr>
        <p:txBody>
          <a:bodyPr/>
          <a:lstStyle/>
          <a:p>
            <a:endParaRPr lang="en-US"/>
          </a:p>
        </p:txBody>
      </p:sp>
      <p:sp>
        <p:nvSpPr>
          <p:cNvPr id="21" name="Text 14"/>
          <p:cNvSpPr/>
          <p:nvPr/>
        </p:nvSpPr>
        <p:spPr>
          <a:xfrm>
            <a:off x="7659887" y="7067028"/>
            <a:ext cx="2808089" cy="206097"/>
          </a:xfrm>
          <a:prstGeom prst="rect">
            <a:avLst/>
          </a:prstGeom>
          <a:noFill/>
          <a:ln/>
        </p:spPr>
        <p:txBody>
          <a:bodyPr wrap="none" lIns="0" tIns="0" rIns="0" bIns="0" rtlCol="0" anchor="t"/>
          <a:lstStyle/>
          <a:p>
            <a:pPr marL="0" indent="0" algn="l">
              <a:lnSpc>
                <a:spcPts val="1600"/>
              </a:lnSpc>
              <a:buNone/>
            </a:pPr>
            <a:r>
              <a:rPr lang="en-US" sz="1250" b="1" dirty="0">
                <a:solidFill>
                  <a:srgbClr val="333F70"/>
                </a:solidFill>
                <a:latin typeface="Unbounded Bold" pitchFamily="34" charset="0"/>
                <a:ea typeface="Unbounded Bold" pitchFamily="34" charset="-122"/>
                <a:cs typeface="Unbounded Bold" pitchFamily="34" charset="-120"/>
              </a:rPr>
              <a:t>Hedera Token Service (HTS)</a:t>
            </a:r>
            <a:endParaRPr lang="en-US" sz="1250" dirty="0"/>
          </a:p>
        </p:txBody>
      </p:sp>
      <p:sp>
        <p:nvSpPr>
          <p:cNvPr id="22" name="Text 15"/>
          <p:cNvSpPr/>
          <p:nvPr/>
        </p:nvSpPr>
        <p:spPr>
          <a:xfrm>
            <a:off x="7659887" y="7352182"/>
            <a:ext cx="6493669" cy="210979"/>
          </a:xfrm>
          <a:prstGeom prst="rect">
            <a:avLst/>
          </a:prstGeom>
          <a:noFill/>
          <a:ln/>
        </p:spPr>
        <p:txBody>
          <a:bodyPr wrap="none" lIns="0" tIns="0" rIns="0" bIns="0" rtlCol="0" anchor="t"/>
          <a:lstStyle/>
          <a:p>
            <a:pPr marL="0" indent="0" algn="l">
              <a:lnSpc>
                <a:spcPts val="1650"/>
              </a:lnSpc>
              <a:buNone/>
            </a:pPr>
            <a:r>
              <a:rPr lang="en-US" sz="1000" dirty="0">
                <a:solidFill>
                  <a:srgbClr val="333F70"/>
                </a:solidFill>
                <a:latin typeface="Open Sans" pitchFamily="34" charset="0"/>
                <a:ea typeface="Open Sans" pitchFamily="34" charset="-122"/>
                <a:cs typeface="Open Sans" pitchFamily="34" charset="-120"/>
              </a:rPr>
              <a:t>Minting $HUSH tokens and Soundscape First-Mover NFTs</a:t>
            </a:r>
            <a:endParaRPr lang="en-US" sz="1000" dirty="0"/>
          </a:p>
        </p:txBody>
      </p:sp>
      <p:sp>
        <p:nvSpPr>
          <p:cNvPr id="23" name="Text 16"/>
          <p:cNvSpPr/>
          <p:nvPr/>
        </p:nvSpPr>
        <p:spPr>
          <a:xfrm>
            <a:off x="593408" y="7858555"/>
            <a:ext cx="13707189" cy="421958"/>
          </a:xfrm>
          <a:prstGeom prst="rect">
            <a:avLst/>
          </a:prstGeom>
          <a:noFill/>
          <a:ln/>
        </p:spPr>
        <p:txBody>
          <a:bodyPr wrap="square" lIns="0" tIns="0" rIns="0" bIns="0" rtlCol="0" anchor="t"/>
          <a:lstStyle/>
          <a:p>
            <a:pPr marL="0" indent="0" algn="l">
              <a:lnSpc>
                <a:spcPts val="1650"/>
              </a:lnSpc>
              <a:buNone/>
            </a:pPr>
            <a:r>
              <a:rPr lang="en-US" sz="1000" b="1" dirty="0">
                <a:solidFill>
                  <a:srgbClr val="333F70"/>
                </a:solidFill>
                <a:latin typeface="Open Sans" pitchFamily="34" charset="0"/>
                <a:ea typeface="Open Sans" pitchFamily="34" charset="-122"/>
                <a:cs typeface="Open Sans" pitchFamily="34" charset="-120"/>
              </a:rPr>
              <a:t>TRL Status:</a:t>
            </a:r>
            <a:r>
              <a:rPr lang="en-US" sz="1000" dirty="0">
                <a:solidFill>
                  <a:srgbClr val="333F70"/>
                </a:solidFill>
                <a:latin typeface="Open Sans" pitchFamily="34" charset="0"/>
                <a:ea typeface="Open Sans" pitchFamily="34" charset="-122"/>
                <a:cs typeface="Open Sans" pitchFamily="34" charset="-120"/>
              </a:rPr>
              <a:t> MVP complete : mobile application running, $Hush token deployed on mainnet, Soundscape First-Mover NFT Minted on Mainnet, data logging to Hedera HCS implemented, basic reward calculation logic operational. </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25766" y="787360"/>
            <a:ext cx="7865269" cy="1141809"/>
          </a:xfrm>
          <a:prstGeom prst="rect">
            <a:avLst/>
          </a:prstGeom>
          <a:noFill/>
          <a:ln/>
        </p:spPr>
        <p:txBody>
          <a:bodyPr wrap="square" lIns="0" tIns="0" rIns="0" bIns="0" rtlCol="0" anchor="t"/>
          <a:lstStyle/>
          <a:p>
            <a:pPr marL="0" indent="0" algn="l">
              <a:lnSpc>
                <a:spcPts val="4450"/>
              </a:lnSpc>
              <a:buNone/>
            </a:pPr>
            <a:r>
              <a:rPr lang="en-US" sz="3550" b="1" dirty="0">
                <a:solidFill>
                  <a:srgbClr val="333F70"/>
                </a:solidFill>
                <a:latin typeface="Unbounded Bold" pitchFamily="34" charset="0"/>
                <a:ea typeface="Unbounded Bold" pitchFamily="34" charset="-122"/>
                <a:cs typeface="Unbounded Bold" pitchFamily="34" charset="-120"/>
              </a:rPr>
              <a:t>Data as the Decentralised Revenue Stream</a:t>
            </a:r>
            <a:endParaRPr lang="en-US" sz="3550" dirty="0"/>
          </a:p>
        </p:txBody>
      </p:sp>
      <p:sp>
        <p:nvSpPr>
          <p:cNvPr id="4" name="Text 1"/>
          <p:cNvSpPr/>
          <p:nvPr/>
        </p:nvSpPr>
        <p:spPr>
          <a:xfrm>
            <a:off x="6125766" y="2002155"/>
            <a:ext cx="2740462" cy="342543"/>
          </a:xfrm>
          <a:prstGeom prst="rect">
            <a:avLst/>
          </a:prstGeom>
          <a:noFill/>
          <a:ln/>
        </p:spPr>
        <p:txBody>
          <a:bodyPr wrap="none" lIns="0" tIns="0" rIns="0" bIns="0" rtlCol="0" anchor="t"/>
          <a:lstStyle/>
          <a:p>
            <a:pPr marL="0" indent="0" algn="l">
              <a:lnSpc>
                <a:spcPts val="2650"/>
              </a:lnSpc>
              <a:buNone/>
            </a:pPr>
            <a:r>
              <a:rPr lang="en-US" sz="2150" b="1" dirty="0">
                <a:solidFill>
                  <a:srgbClr val="333F70"/>
                </a:solidFill>
                <a:latin typeface="Unbounded Bold" pitchFamily="34" charset="0"/>
                <a:ea typeface="Unbounded Bold" pitchFamily="34" charset="-122"/>
                <a:cs typeface="Unbounded Bold" pitchFamily="34" charset="-120"/>
              </a:rPr>
              <a:t>Who Pays?</a:t>
            </a:r>
            <a:endParaRPr lang="en-US" sz="2150" dirty="0"/>
          </a:p>
        </p:txBody>
      </p:sp>
      <p:sp>
        <p:nvSpPr>
          <p:cNvPr id="5" name="Text 2"/>
          <p:cNvSpPr/>
          <p:nvPr/>
        </p:nvSpPr>
        <p:spPr>
          <a:xfrm>
            <a:off x="6125766" y="2618661"/>
            <a:ext cx="7865269" cy="584359"/>
          </a:xfrm>
          <a:prstGeom prst="rect">
            <a:avLst/>
          </a:prstGeom>
          <a:noFill/>
          <a:ln/>
        </p:spPr>
        <p:txBody>
          <a:bodyPr wrap="square" lIns="0" tIns="0" rIns="0" bIns="0" rtlCol="0" anchor="t"/>
          <a:lstStyle/>
          <a:p>
            <a:pPr marL="0" indent="0" algn="l">
              <a:lnSpc>
                <a:spcPts val="2300"/>
              </a:lnSpc>
              <a:buNone/>
            </a:pPr>
            <a:r>
              <a:rPr lang="en-US" sz="1400" dirty="0">
                <a:solidFill>
                  <a:srgbClr val="333F70"/>
                </a:solidFill>
                <a:latin typeface="Open Sans" pitchFamily="34" charset="0"/>
                <a:ea typeface="Open Sans" pitchFamily="34" charset="-122"/>
                <a:cs typeface="Open Sans" pitchFamily="34" charset="-120"/>
              </a:rPr>
              <a:t>Data consumers: governments, planners, real estate firms, and hospitality businesses pay for access to verified, historical, and real-time HushSense data.</a:t>
            </a:r>
            <a:endParaRPr lang="en-US" sz="1400" dirty="0"/>
          </a:p>
        </p:txBody>
      </p:sp>
      <p:pic>
        <p:nvPicPr>
          <p:cNvPr id="6" name="Image 1" descr="preencoded.png"/>
          <p:cNvPicPr>
            <a:picLocks noChangeAspect="1"/>
          </p:cNvPicPr>
          <p:nvPr/>
        </p:nvPicPr>
        <p:blipFill>
          <a:blip r:embed="rId4"/>
          <a:stretch>
            <a:fillRect/>
          </a:stretch>
        </p:blipFill>
        <p:spPr>
          <a:xfrm>
            <a:off x="6125766" y="3408521"/>
            <a:ext cx="913448" cy="1344573"/>
          </a:xfrm>
          <a:prstGeom prst="rect">
            <a:avLst/>
          </a:prstGeom>
        </p:spPr>
      </p:pic>
      <p:sp>
        <p:nvSpPr>
          <p:cNvPr id="7" name="Text 3"/>
          <p:cNvSpPr/>
          <p:nvPr/>
        </p:nvSpPr>
        <p:spPr>
          <a:xfrm>
            <a:off x="7221855" y="3591163"/>
            <a:ext cx="2673072" cy="285393"/>
          </a:xfrm>
          <a:prstGeom prst="rect">
            <a:avLst/>
          </a:prstGeom>
          <a:noFill/>
          <a:ln/>
        </p:spPr>
        <p:txBody>
          <a:bodyPr wrap="none" lIns="0" tIns="0" rIns="0" bIns="0" rtlCol="0" anchor="t"/>
          <a:lstStyle/>
          <a:p>
            <a:pPr marL="0" indent="0" algn="l">
              <a:lnSpc>
                <a:spcPts val="2200"/>
              </a:lnSpc>
              <a:buNone/>
            </a:pPr>
            <a:r>
              <a:rPr lang="en-US" sz="1750" b="1" dirty="0">
                <a:solidFill>
                  <a:srgbClr val="333F70"/>
                </a:solidFill>
                <a:latin typeface="Unbounded Bold" pitchFamily="34" charset="0"/>
                <a:ea typeface="Unbounded Bold" pitchFamily="34" charset="-122"/>
                <a:cs typeface="Unbounded Bold" pitchFamily="34" charset="-120"/>
              </a:rPr>
              <a:t>Tier 1: $Hush Token</a:t>
            </a:r>
            <a:endParaRPr lang="en-US" sz="1750" dirty="0"/>
          </a:p>
        </p:txBody>
      </p:sp>
      <p:sp>
        <p:nvSpPr>
          <p:cNvPr id="8" name="Text 4"/>
          <p:cNvSpPr/>
          <p:nvPr/>
        </p:nvSpPr>
        <p:spPr>
          <a:xfrm>
            <a:off x="7221855" y="3986093"/>
            <a:ext cx="6769179" cy="584359"/>
          </a:xfrm>
          <a:prstGeom prst="rect">
            <a:avLst/>
          </a:prstGeom>
          <a:noFill/>
          <a:ln/>
        </p:spPr>
        <p:txBody>
          <a:bodyPr wrap="square" lIns="0" tIns="0" rIns="0" bIns="0" rtlCol="0" anchor="t"/>
          <a:lstStyle/>
          <a:p>
            <a:pPr marL="0" indent="0" algn="l">
              <a:lnSpc>
                <a:spcPts val="2300"/>
              </a:lnSpc>
              <a:buNone/>
            </a:pPr>
            <a:r>
              <a:rPr lang="en-US" sz="1400" dirty="0">
                <a:solidFill>
                  <a:srgbClr val="333F70"/>
                </a:solidFill>
                <a:latin typeface="Open Sans" pitchFamily="34" charset="0"/>
                <a:ea typeface="Open Sans" pitchFamily="34" charset="-122"/>
                <a:cs typeface="Open Sans" pitchFamily="34" charset="-120"/>
              </a:rPr>
              <a:t>Long-term corporate/government contracts for large-scale API access and custom reports</a:t>
            </a:r>
            <a:endParaRPr lang="en-US" sz="1400" dirty="0"/>
          </a:p>
        </p:txBody>
      </p:sp>
      <p:pic>
        <p:nvPicPr>
          <p:cNvPr id="9" name="Image 2" descr="preencoded.png"/>
          <p:cNvPicPr>
            <a:picLocks noChangeAspect="1"/>
          </p:cNvPicPr>
          <p:nvPr/>
        </p:nvPicPr>
        <p:blipFill>
          <a:blip r:embed="rId5"/>
          <a:stretch>
            <a:fillRect/>
          </a:stretch>
        </p:blipFill>
        <p:spPr>
          <a:xfrm>
            <a:off x="6125766" y="4753094"/>
            <a:ext cx="913448" cy="1344573"/>
          </a:xfrm>
          <a:prstGeom prst="rect">
            <a:avLst/>
          </a:prstGeom>
        </p:spPr>
      </p:pic>
      <p:sp>
        <p:nvSpPr>
          <p:cNvPr id="10" name="Text 5"/>
          <p:cNvSpPr/>
          <p:nvPr/>
        </p:nvSpPr>
        <p:spPr>
          <a:xfrm>
            <a:off x="7221855" y="4935736"/>
            <a:ext cx="2827615" cy="285393"/>
          </a:xfrm>
          <a:prstGeom prst="rect">
            <a:avLst/>
          </a:prstGeom>
          <a:noFill/>
          <a:ln/>
        </p:spPr>
        <p:txBody>
          <a:bodyPr wrap="none" lIns="0" tIns="0" rIns="0" bIns="0" rtlCol="0" anchor="t"/>
          <a:lstStyle/>
          <a:p>
            <a:pPr marL="0" indent="0" algn="l">
              <a:lnSpc>
                <a:spcPts val="2200"/>
              </a:lnSpc>
              <a:buNone/>
            </a:pPr>
            <a:r>
              <a:rPr lang="en-US" sz="1750" b="1" dirty="0">
                <a:solidFill>
                  <a:srgbClr val="333F70"/>
                </a:solidFill>
                <a:latin typeface="Unbounded Bold" pitchFamily="34" charset="0"/>
                <a:ea typeface="Unbounded Bold" pitchFamily="34" charset="-122"/>
                <a:cs typeface="Unbounded Bold" pitchFamily="34" charset="-120"/>
              </a:rPr>
              <a:t>Tier 2: $HUSH Token</a:t>
            </a:r>
            <a:endParaRPr lang="en-US" sz="1750" dirty="0"/>
          </a:p>
        </p:txBody>
      </p:sp>
      <p:sp>
        <p:nvSpPr>
          <p:cNvPr id="11" name="Text 6"/>
          <p:cNvSpPr/>
          <p:nvPr/>
        </p:nvSpPr>
        <p:spPr>
          <a:xfrm>
            <a:off x="7221855" y="5330666"/>
            <a:ext cx="6769179" cy="584359"/>
          </a:xfrm>
          <a:prstGeom prst="rect">
            <a:avLst/>
          </a:prstGeom>
          <a:noFill/>
          <a:ln/>
        </p:spPr>
        <p:txBody>
          <a:bodyPr wrap="square" lIns="0" tIns="0" rIns="0" bIns="0" rtlCol="0" anchor="t"/>
          <a:lstStyle/>
          <a:p>
            <a:pPr marL="0" indent="0" algn="l">
              <a:lnSpc>
                <a:spcPts val="2300"/>
              </a:lnSpc>
              <a:buNone/>
            </a:pPr>
            <a:r>
              <a:rPr lang="en-US" sz="1400" dirty="0">
                <a:solidFill>
                  <a:srgbClr val="333F70"/>
                </a:solidFill>
                <a:latin typeface="Open Sans" pitchFamily="34" charset="0"/>
                <a:ea typeface="Open Sans" pitchFamily="34" charset="-122"/>
                <a:cs typeface="Open Sans" pitchFamily="34" charset="-120"/>
              </a:rPr>
              <a:t>Businesses pay $HUSH to access hyperlocal data reports (e.g., restaurant checking neighbourhood noise trends)</a:t>
            </a:r>
            <a:endParaRPr lang="en-US" sz="1400" dirty="0"/>
          </a:p>
        </p:txBody>
      </p:sp>
      <p:pic>
        <p:nvPicPr>
          <p:cNvPr id="12" name="Image 3" descr="preencoded.png"/>
          <p:cNvPicPr>
            <a:picLocks noChangeAspect="1"/>
          </p:cNvPicPr>
          <p:nvPr/>
        </p:nvPicPr>
        <p:blipFill>
          <a:blip r:embed="rId6"/>
          <a:stretch>
            <a:fillRect/>
          </a:stretch>
        </p:blipFill>
        <p:spPr>
          <a:xfrm>
            <a:off x="6125766" y="6097667"/>
            <a:ext cx="913448" cy="1344573"/>
          </a:xfrm>
          <a:prstGeom prst="rect">
            <a:avLst/>
          </a:prstGeom>
        </p:spPr>
      </p:pic>
      <p:sp>
        <p:nvSpPr>
          <p:cNvPr id="13" name="Text 7"/>
          <p:cNvSpPr/>
          <p:nvPr/>
        </p:nvSpPr>
        <p:spPr>
          <a:xfrm>
            <a:off x="7221855" y="6280309"/>
            <a:ext cx="2283738" cy="285393"/>
          </a:xfrm>
          <a:prstGeom prst="rect">
            <a:avLst/>
          </a:prstGeom>
          <a:noFill/>
          <a:ln/>
        </p:spPr>
        <p:txBody>
          <a:bodyPr wrap="none" lIns="0" tIns="0" rIns="0" bIns="0" rtlCol="0" anchor="t"/>
          <a:lstStyle/>
          <a:p>
            <a:pPr marL="0" indent="0" algn="l">
              <a:lnSpc>
                <a:spcPts val="2200"/>
              </a:lnSpc>
              <a:buNone/>
            </a:pPr>
            <a:r>
              <a:rPr lang="en-US" sz="1750" b="1" dirty="0">
                <a:solidFill>
                  <a:srgbClr val="333F70"/>
                </a:solidFill>
                <a:latin typeface="Unbounded Bold" pitchFamily="34" charset="0"/>
                <a:ea typeface="Unbounded Bold" pitchFamily="34" charset="-122"/>
                <a:cs typeface="Unbounded Bold" pitchFamily="34" charset="-120"/>
              </a:rPr>
              <a:t>Revenue Flow</a:t>
            </a:r>
            <a:endParaRPr lang="en-US" sz="1750" dirty="0"/>
          </a:p>
        </p:txBody>
      </p:sp>
      <p:sp>
        <p:nvSpPr>
          <p:cNvPr id="14" name="Text 8"/>
          <p:cNvSpPr/>
          <p:nvPr/>
        </p:nvSpPr>
        <p:spPr>
          <a:xfrm>
            <a:off x="7221855" y="6675239"/>
            <a:ext cx="6769179" cy="584359"/>
          </a:xfrm>
          <a:prstGeom prst="rect">
            <a:avLst/>
          </a:prstGeom>
          <a:noFill/>
          <a:ln/>
        </p:spPr>
        <p:txBody>
          <a:bodyPr wrap="square" lIns="0" tIns="0" rIns="0" bIns="0" rtlCol="0" anchor="t"/>
          <a:lstStyle/>
          <a:p>
            <a:pPr marL="0" indent="0" algn="l">
              <a:lnSpc>
                <a:spcPts val="2300"/>
              </a:lnSpc>
              <a:buNone/>
            </a:pPr>
            <a:r>
              <a:rPr lang="en-US" sz="1400" dirty="0">
                <a:solidFill>
                  <a:srgbClr val="333F70"/>
                </a:solidFill>
                <a:latin typeface="Open Sans" pitchFamily="34" charset="0"/>
                <a:ea typeface="Open Sans" pitchFamily="34" charset="-122"/>
                <a:cs typeface="Open Sans" pitchFamily="34" charset="-120"/>
              </a:rPr>
              <a:t>Percentage to HushSense Foundation, percentage for token buyback to stabilise $HUSH value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36615" y="787003"/>
            <a:ext cx="5866209" cy="478988"/>
          </a:xfrm>
          <a:prstGeom prst="rect">
            <a:avLst/>
          </a:prstGeom>
          <a:noFill/>
          <a:ln/>
        </p:spPr>
        <p:txBody>
          <a:bodyPr wrap="none" lIns="0" tIns="0" rIns="0" bIns="0" rtlCol="0" anchor="t"/>
          <a:lstStyle/>
          <a:p>
            <a:pPr marL="0" indent="0" algn="l">
              <a:lnSpc>
                <a:spcPts val="3750"/>
              </a:lnSpc>
              <a:buNone/>
            </a:pPr>
            <a:r>
              <a:rPr lang="en-US" sz="3000" b="1" dirty="0">
                <a:solidFill>
                  <a:srgbClr val="333F70"/>
                </a:solidFill>
                <a:latin typeface="Unbounded Bold" pitchFamily="34" charset="0"/>
                <a:ea typeface="Unbounded Bold" pitchFamily="34" charset="-122"/>
                <a:cs typeface="Unbounded Bold" pitchFamily="34" charset="-120"/>
              </a:rPr>
              <a:t>Traction and Milestones</a:t>
            </a:r>
            <a:endParaRPr lang="en-US" sz="3000" dirty="0"/>
          </a:p>
        </p:txBody>
      </p:sp>
      <p:sp>
        <p:nvSpPr>
          <p:cNvPr id="3" name="Text 1"/>
          <p:cNvSpPr/>
          <p:nvPr/>
        </p:nvSpPr>
        <p:spPr>
          <a:xfrm>
            <a:off x="536615" y="1572578"/>
            <a:ext cx="13557171" cy="245269"/>
          </a:xfrm>
          <a:prstGeom prst="rect">
            <a:avLst/>
          </a:prstGeom>
          <a:noFill/>
          <a:ln/>
        </p:spPr>
        <p:txBody>
          <a:bodyPr wrap="none" lIns="0" tIns="0" rIns="0" bIns="0" rtlCol="0" anchor="t"/>
          <a:lstStyle/>
          <a:p>
            <a:pPr marL="0" indent="0" algn="l">
              <a:lnSpc>
                <a:spcPts val="1900"/>
              </a:lnSpc>
              <a:buNone/>
            </a:pPr>
            <a:r>
              <a:rPr lang="en-US" sz="1200" dirty="0">
                <a:solidFill>
                  <a:srgbClr val="333F70"/>
                </a:solidFill>
                <a:latin typeface="Open Sans" pitchFamily="34" charset="0"/>
                <a:ea typeface="Open Sans" pitchFamily="34" charset="-122"/>
                <a:cs typeface="Open Sans" pitchFamily="34" charset="-120"/>
              </a:rPr>
              <a:t>We executed </a:t>
            </a:r>
            <a:r>
              <a:rPr lang="en-US" sz="1200" b="1" dirty="0">
                <a:solidFill>
                  <a:srgbClr val="333F70"/>
                </a:solidFill>
                <a:latin typeface="Open Sans" pitchFamily="34" charset="0"/>
                <a:ea typeface="Open Sans" pitchFamily="34" charset="-122"/>
                <a:cs typeface="Open Sans" pitchFamily="34" charset="-120"/>
              </a:rPr>
              <a:t>21 commits</a:t>
            </a:r>
            <a:r>
              <a:rPr lang="en-US" sz="1200" dirty="0">
                <a:solidFill>
                  <a:srgbClr val="333F70"/>
                </a:solidFill>
                <a:latin typeface="Open Sans" pitchFamily="34" charset="0"/>
                <a:ea typeface="Open Sans" pitchFamily="34" charset="-122"/>
                <a:cs typeface="Open Sans" pitchFamily="34" charset="-120"/>
              </a:rPr>
              <a:t> on GitHub, ensuring quick iteration and the successful implementation of core features, including initial Hedera Consensus Service (HCS) integration.</a:t>
            </a:r>
            <a:endParaRPr lang="en-US" sz="1200" dirty="0"/>
          </a:p>
        </p:txBody>
      </p:sp>
      <p:sp>
        <p:nvSpPr>
          <p:cNvPr id="4" name="Text 2"/>
          <p:cNvSpPr/>
          <p:nvPr/>
        </p:nvSpPr>
        <p:spPr>
          <a:xfrm>
            <a:off x="536615" y="1990249"/>
            <a:ext cx="13557171" cy="245269"/>
          </a:xfrm>
          <a:prstGeom prst="rect">
            <a:avLst/>
          </a:prstGeom>
          <a:noFill/>
          <a:ln/>
        </p:spPr>
        <p:txBody>
          <a:bodyPr wrap="none" lIns="0" tIns="0" rIns="0" bIns="0" rtlCol="0" anchor="t"/>
          <a:lstStyle/>
          <a:p>
            <a:pPr marL="0" indent="0" algn="l">
              <a:lnSpc>
                <a:spcPts val="1900"/>
              </a:lnSpc>
              <a:buNone/>
            </a:pPr>
            <a:r>
              <a:rPr lang="en-US" sz="1200" dirty="0">
                <a:solidFill>
                  <a:srgbClr val="333F70"/>
                </a:solidFill>
                <a:latin typeface="Open Sans" pitchFamily="34" charset="0"/>
                <a:ea typeface="Open Sans" pitchFamily="34" charset="-122"/>
                <a:cs typeface="Open Sans" pitchFamily="34" charset="-120"/>
              </a:rPr>
              <a:t>We successfully onboarded over </a:t>
            </a:r>
            <a:r>
              <a:rPr lang="en-US" sz="1200" b="1" dirty="0">
                <a:solidFill>
                  <a:srgbClr val="333F70"/>
                </a:solidFill>
                <a:latin typeface="Open Sans" pitchFamily="34" charset="0"/>
                <a:ea typeface="Open Sans" pitchFamily="34" charset="-122"/>
                <a:cs typeface="Open Sans" pitchFamily="34" charset="-120"/>
              </a:rPr>
              <a:t>100 users</a:t>
            </a:r>
            <a:r>
              <a:rPr lang="en-US" sz="1200" dirty="0">
                <a:solidFill>
                  <a:srgbClr val="333F70"/>
                </a:solidFill>
                <a:latin typeface="Open Sans" pitchFamily="34" charset="0"/>
                <a:ea typeface="Open Sans" pitchFamily="34" charset="-122"/>
                <a:cs typeface="Open Sans" pitchFamily="34" charset="-120"/>
              </a:rPr>
              <a:t> for testing, generating critical, real-world data and user feedback to validate the MVP's functionality and reward logic.</a:t>
            </a:r>
            <a:endParaRPr lang="en-US" sz="1200" dirty="0"/>
          </a:p>
        </p:txBody>
      </p:sp>
      <p:sp>
        <p:nvSpPr>
          <p:cNvPr id="5" name="Text 3"/>
          <p:cNvSpPr/>
          <p:nvPr/>
        </p:nvSpPr>
        <p:spPr>
          <a:xfrm>
            <a:off x="536615" y="2407920"/>
            <a:ext cx="13557171" cy="490538"/>
          </a:xfrm>
          <a:prstGeom prst="rect">
            <a:avLst/>
          </a:prstGeom>
          <a:noFill/>
          <a:ln/>
        </p:spPr>
        <p:txBody>
          <a:bodyPr wrap="square" lIns="0" tIns="0" rIns="0" bIns="0" rtlCol="0" anchor="t"/>
          <a:lstStyle/>
          <a:p>
            <a:pPr marL="0" indent="0" algn="l">
              <a:lnSpc>
                <a:spcPts val="1900"/>
              </a:lnSpc>
              <a:buNone/>
            </a:pPr>
            <a:r>
              <a:rPr lang="en-US" sz="1200" dirty="0">
                <a:solidFill>
                  <a:srgbClr val="333F70"/>
                </a:solidFill>
                <a:latin typeface="Open Sans" pitchFamily="34" charset="0"/>
                <a:ea typeface="Open Sans" pitchFamily="34" charset="-122"/>
                <a:cs typeface="Open Sans" pitchFamily="34" charset="-120"/>
              </a:rPr>
              <a:t>The team benefited from invaluable support and mentorship provided by dedicated trainees, including </a:t>
            </a:r>
            <a:r>
              <a:rPr lang="en-US" sz="1200" b="1" dirty="0">
                <a:solidFill>
                  <a:srgbClr val="333F70"/>
                </a:solidFill>
                <a:latin typeface="Open Sans" pitchFamily="34" charset="0"/>
                <a:ea typeface="Open Sans" pitchFamily="34" charset="-122"/>
                <a:cs typeface="Open Sans" pitchFamily="34" charset="-120"/>
              </a:rPr>
              <a:t>Youssef and TaleBG</a:t>
            </a:r>
            <a:r>
              <a:rPr lang="en-US" sz="1200" dirty="0">
                <a:solidFill>
                  <a:srgbClr val="333F70"/>
                </a:solidFill>
                <a:latin typeface="Open Sans" pitchFamily="34" charset="0"/>
                <a:ea typeface="Open Sans" pitchFamily="34" charset="-122"/>
                <a:cs typeface="Open Sans" pitchFamily="34" charset="-120"/>
              </a:rPr>
              <a:t>, accelerating our technical development and refining our strategic approach.</a:t>
            </a:r>
            <a:endParaRPr lang="en-US" sz="1200" dirty="0"/>
          </a:p>
        </p:txBody>
      </p:sp>
      <p:sp>
        <p:nvSpPr>
          <p:cNvPr id="6" name="Shape 4"/>
          <p:cNvSpPr/>
          <p:nvPr/>
        </p:nvSpPr>
        <p:spPr>
          <a:xfrm>
            <a:off x="536615" y="3070860"/>
            <a:ext cx="6701909" cy="1986558"/>
          </a:xfrm>
          <a:prstGeom prst="roundRect">
            <a:avLst>
              <a:gd name="adj" fmla="val 3242"/>
            </a:avLst>
          </a:prstGeom>
          <a:solidFill>
            <a:srgbClr val="FFFFFF"/>
          </a:solidFill>
          <a:ln w="22860">
            <a:solidFill>
              <a:srgbClr val="BCDBD4"/>
            </a:solidFill>
            <a:prstDash val="solid"/>
          </a:ln>
        </p:spPr>
        <p:txBody>
          <a:bodyPr/>
          <a:lstStyle/>
          <a:p>
            <a:endParaRPr lang="en-US"/>
          </a:p>
        </p:txBody>
      </p:sp>
      <p:sp>
        <p:nvSpPr>
          <p:cNvPr id="7" name="Shape 5"/>
          <p:cNvSpPr/>
          <p:nvPr/>
        </p:nvSpPr>
        <p:spPr>
          <a:xfrm>
            <a:off x="559475" y="3093720"/>
            <a:ext cx="6656189" cy="459938"/>
          </a:xfrm>
          <a:prstGeom prst="roundRect">
            <a:avLst>
              <a:gd name="adj" fmla="val 8036"/>
            </a:avLst>
          </a:prstGeom>
          <a:solidFill>
            <a:srgbClr val="D6F5EE"/>
          </a:solidFill>
          <a:ln/>
        </p:spPr>
        <p:txBody>
          <a:bodyPr/>
          <a:lstStyle/>
          <a:p>
            <a:endParaRPr lang="en-US"/>
          </a:p>
        </p:txBody>
      </p:sp>
      <p:pic>
        <p:nvPicPr>
          <p:cNvPr id="8"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72614" y="3204805"/>
            <a:ext cx="229910" cy="229910"/>
          </a:xfrm>
          <a:prstGeom prst="rect">
            <a:avLst/>
          </a:prstGeom>
        </p:spPr>
      </p:pic>
      <p:sp>
        <p:nvSpPr>
          <p:cNvPr id="9" name="Text 6"/>
          <p:cNvSpPr/>
          <p:nvPr/>
        </p:nvSpPr>
        <p:spPr>
          <a:xfrm>
            <a:off x="712708" y="3706892"/>
            <a:ext cx="2200751" cy="239554"/>
          </a:xfrm>
          <a:prstGeom prst="rect">
            <a:avLst/>
          </a:prstGeom>
          <a:noFill/>
          <a:ln/>
        </p:spPr>
        <p:txBody>
          <a:bodyPr wrap="none" lIns="0" tIns="0" rIns="0" bIns="0" rtlCol="0" anchor="t"/>
          <a:lstStyle/>
          <a:p>
            <a:pPr marL="0" indent="0" algn="l">
              <a:lnSpc>
                <a:spcPts val="1850"/>
              </a:lnSpc>
              <a:buNone/>
            </a:pPr>
            <a:r>
              <a:rPr lang="en-US" b="1" dirty="0">
                <a:solidFill>
                  <a:srgbClr val="333F70"/>
                </a:solidFill>
                <a:latin typeface="Unbounded Bold" pitchFamily="34" charset="0"/>
                <a:ea typeface="Unbounded Bold" pitchFamily="34" charset="-122"/>
                <a:cs typeface="Unbounded Bold" pitchFamily="34" charset="-120"/>
              </a:rPr>
              <a:t>Key Achievements</a:t>
            </a:r>
            <a:endParaRPr lang="en-US" dirty="0"/>
          </a:p>
        </p:txBody>
      </p:sp>
      <p:sp>
        <p:nvSpPr>
          <p:cNvPr id="10" name="Text 7"/>
          <p:cNvSpPr/>
          <p:nvPr/>
        </p:nvSpPr>
        <p:spPr>
          <a:xfrm>
            <a:off x="712708" y="4038362"/>
            <a:ext cx="6349722" cy="245269"/>
          </a:xfrm>
          <a:prstGeom prst="rect">
            <a:avLst/>
          </a:prstGeom>
          <a:noFill/>
          <a:ln/>
        </p:spPr>
        <p:txBody>
          <a:bodyPr wrap="none" lIns="0" tIns="0" rIns="0" bIns="0" rtlCol="0" anchor="t"/>
          <a:lstStyle/>
          <a:p>
            <a:pPr marL="342900" indent="-342900" algn="l">
              <a:lnSpc>
                <a:spcPts val="1900"/>
              </a:lnSpc>
              <a:buSzPct val="100000"/>
              <a:buChar char="•"/>
            </a:pPr>
            <a:r>
              <a:rPr lang="en-US" sz="1200" dirty="0">
                <a:solidFill>
                  <a:srgbClr val="333F70"/>
                </a:solidFill>
                <a:latin typeface="Open Sans" pitchFamily="34" charset="0"/>
                <a:ea typeface="Open Sans" pitchFamily="34" charset="-122"/>
                <a:cs typeface="Open Sans" pitchFamily="34" charset="-120"/>
              </a:rPr>
              <a:t>Successful deployment of initial HushSense sensor network in 3 major cities.</a:t>
            </a:r>
            <a:endParaRPr lang="en-US" sz="1200" dirty="0"/>
          </a:p>
        </p:txBody>
      </p:sp>
      <p:sp>
        <p:nvSpPr>
          <p:cNvPr id="11" name="Text 8"/>
          <p:cNvSpPr/>
          <p:nvPr/>
        </p:nvSpPr>
        <p:spPr>
          <a:xfrm>
            <a:off x="712708" y="4337209"/>
            <a:ext cx="6349722" cy="245269"/>
          </a:xfrm>
          <a:prstGeom prst="rect">
            <a:avLst/>
          </a:prstGeom>
          <a:noFill/>
          <a:ln/>
        </p:spPr>
        <p:txBody>
          <a:bodyPr wrap="none" lIns="0" tIns="0" rIns="0" bIns="0" rtlCol="0" anchor="t"/>
          <a:lstStyle/>
          <a:p>
            <a:pPr marL="342900" indent="-342900" algn="l">
              <a:lnSpc>
                <a:spcPts val="1900"/>
              </a:lnSpc>
              <a:buSzPct val="100000"/>
              <a:buChar char="•"/>
            </a:pPr>
            <a:r>
              <a:rPr lang="en-US" sz="1200" dirty="0">
                <a:solidFill>
                  <a:srgbClr val="333F70"/>
                </a:solidFill>
                <a:latin typeface="Open Sans" pitchFamily="34" charset="0"/>
                <a:ea typeface="Open Sans" pitchFamily="34" charset="-122"/>
                <a:cs typeface="Open Sans" pitchFamily="34" charset="-120"/>
              </a:rPr>
              <a:t>Developed and patented proprietary data verification and privacy algorithms.</a:t>
            </a:r>
            <a:endParaRPr lang="en-US" sz="1200" dirty="0"/>
          </a:p>
        </p:txBody>
      </p:sp>
      <p:sp>
        <p:nvSpPr>
          <p:cNvPr id="12" name="Text 9"/>
          <p:cNvSpPr/>
          <p:nvPr/>
        </p:nvSpPr>
        <p:spPr>
          <a:xfrm>
            <a:off x="712708" y="4636056"/>
            <a:ext cx="6349722" cy="245269"/>
          </a:xfrm>
          <a:prstGeom prst="rect">
            <a:avLst/>
          </a:prstGeom>
          <a:noFill/>
          <a:ln/>
        </p:spPr>
        <p:txBody>
          <a:bodyPr wrap="none" lIns="0" tIns="0" rIns="0" bIns="0" rtlCol="0" anchor="t"/>
          <a:lstStyle/>
          <a:p>
            <a:pPr marL="342900" indent="-342900" algn="l">
              <a:lnSpc>
                <a:spcPts val="1900"/>
              </a:lnSpc>
              <a:buSzPct val="100000"/>
              <a:buChar char="•"/>
            </a:pPr>
            <a:r>
              <a:rPr lang="en-US" sz="1200" dirty="0">
                <a:solidFill>
                  <a:srgbClr val="333F70"/>
                </a:solidFill>
                <a:latin typeface="Open Sans" pitchFamily="34" charset="0"/>
                <a:ea typeface="Open Sans" pitchFamily="34" charset="-122"/>
                <a:cs typeface="Open Sans" pitchFamily="34" charset="-120"/>
              </a:rPr>
              <a:t>Secured over $XM in seed funding from leading VCs.</a:t>
            </a:r>
            <a:endParaRPr lang="en-US" sz="1200" dirty="0"/>
          </a:p>
        </p:txBody>
      </p:sp>
      <p:sp>
        <p:nvSpPr>
          <p:cNvPr id="13" name="Shape 10"/>
          <p:cNvSpPr/>
          <p:nvPr/>
        </p:nvSpPr>
        <p:spPr>
          <a:xfrm>
            <a:off x="7391757" y="3070860"/>
            <a:ext cx="6702028" cy="1986558"/>
          </a:xfrm>
          <a:prstGeom prst="roundRect">
            <a:avLst>
              <a:gd name="adj" fmla="val 3242"/>
            </a:avLst>
          </a:prstGeom>
          <a:solidFill>
            <a:srgbClr val="FFFFFF"/>
          </a:solidFill>
          <a:ln w="22860">
            <a:solidFill>
              <a:srgbClr val="BCDBD4"/>
            </a:solidFill>
            <a:prstDash val="solid"/>
          </a:ln>
        </p:spPr>
        <p:txBody>
          <a:bodyPr/>
          <a:lstStyle/>
          <a:p>
            <a:endParaRPr lang="en-US"/>
          </a:p>
        </p:txBody>
      </p:sp>
      <p:sp>
        <p:nvSpPr>
          <p:cNvPr id="14" name="Shape 11"/>
          <p:cNvSpPr/>
          <p:nvPr/>
        </p:nvSpPr>
        <p:spPr>
          <a:xfrm>
            <a:off x="7414617" y="3093720"/>
            <a:ext cx="6656308" cy="459938"/>
          </a:xfrm>
          <a:prstGeom prst="roundRect">
            <a:avLst>
              <a:gd name="adj" fmla="val 8036"/>
            </a:avLst>
          </a:prstGeom>
          <a:solidFill>
            <a:srgbClr val="D6F5EE"/>
          </a:solidFill>
          <a:ln/>
        </p:spPr>
        <p:txBody>
          <a:bodyPr/>
          <a:lstStyle/>
          <a:p>
            <a:endParaRPr lang="en-US"/>
          </a:p>
        </p:txBody>
      </p:sp>
      <p:pic>
        <p:nvPicPr>
          <p:cNvPr id="15"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27757" y="3204805"/>
            <a:ext cx="229910" cy="229910"/>
          </a:xfrm>
          <a:prstGeom prst="rect">
            <a:avLst/>
          </a:prstGeom>
        </p:spPr>
      </p:pic>
      <p:sp>
        <p:nvSpPr>
          <p:cNvPr id="16" name="Text 12"/>
          <p:cNvSpPr/>
          <p:nvPr/>
        </p:nvSpPr>
        <p:spPr>
          <a:xfrm>
            <a:off x="7567851" y="3706892"/>
            <a:ext cx="2529364" cy="239554"/>
          </a:xfrm>
          <a:prstGeom prst="rect">
            <a:avLst/>
          </a:prstGeom>
          <a:noFill/>
          <a:ln/>
        </p:spPr>
        <p:txBody>
          <a:bodyPr wrap="none" lIns="0" tIns="0" rIns="0" bIns="0" rtlCol="0" anchor="t"/>
          <a:lstStyle/>
          <a:p>
            <a:pPr marL="0" indent="0" algn="l">
              <a:lnSpc>
                <a:spcPts val="1850"/>
              </a:lnSpc>
              <a:buNone/>
            </a:pPr>
            <a:r>
              <a:rPr lang="en-US" b="1" dirty="0">
                <a:solidFill>
                  <a:srgbClr val="333F70"/>
                </a:solidFill>
                <a:latin typeface="Unbounded Bold" pitchFamily="34" charset="0"/>
                <a:ea typeface="Unbounded Bold" pitchFamily="34" charset="-122"/>
                <a:cs typeface="Unbounded Bold" pitchFamily="34" charset="-120"/>
              </a:rPr>
              <a:t>Technical Milestones</a:t>
            </a:r>
            <a:endParaRPr lang="en-US" dirty="0"/>
          </a:p>
        </p:txBody>
      </p:sp>
      <p:sp>
        <p:nvSpPr>
          <p:cNvPr id="17" name="Text 13"/>
          <p:cNvSpPr/>
          <p:nvPr/>
        </p:nvSpPr>
        <p:spPr>
          <a:xfrm>
            <a:off x="7567851" y="4038362"/>
            <a:ext cx="6349841" cy="245269"/>
          </a:xfrm>
          <a:prstGeom prst="rect">
            <a:avLst/>
          </a:prstGeom>
          <a:noFill/>
          <a:ln/>
        </p:spPr>
        <p:txBody>
          <a:bodyPr wrap="none" lIns="0" tIns="0" rIns="0" bIns="0" rtlCol="0" anchor="t"/>
          <a:lstStyle/>
          <a:p>
            <a:pPr marL="342900" indent="-342900" algn="l">
              <a:lnSpc>
                <a:spcPts val="1900"/>
              </a:lnSpc>
              <a:buSzPct val="100000"/>
              <a:buChar char="•"/>
            </a:pPr>
            <a:r>
              <a:rPr lang="en-US" sz="1200" dirty="0">
                <a:solidFill>
                  <a:srgbClr val="333F70"/>
                </a:solidFill>
                <a:latin typeface="Open Sans" pitchFamily="34" charset="0"/>
                <a:ea typeface="Open Sans" pitchFamily="34" charset="-122"/>
                <a:cs typeface="Open Sans" pitchFamily="34" charset="-120"/>
              </a:rPr>
              <a:t>Launched Alpha version of the HushSense Data API for developers.</a:t>
            </a:r>
            <a:endParaRPr lang="en-US" sz="1200" dirty="0"/>
          </a:p>
        </p:txBody>
      </p:sp>
      <p:sp>
        <p:nvSpPr>
          <p:cNvPr id="18" name="Text 14"/>
          <p:cNvSpPr/>
          <p:nvPr/>
        </p:nvSpPr>
        <p:spPr>
          <a:xfrm>
            <a:off x="7567851" y="4337209"/>
            <a:ext cx="6349841" cy="245269"/>
          </a:xfrm>
          <a:prstGeom prst="rect">
            <a:avLst/>
          </a:prstGeom>
          <a:noFill/>
          <a:ln/>
        </p:spPr>
        <p:txBody>
          <a:bodyPr wrap="none" lIns="0" tIns="0" rIns="0" bIns="0" rtlCol="0" anchor="t"/>
          <a:lstStyle/>
          <a:p>
            <a:pPr marL="342900" indent="-342900" algn="l">
              <a:lnSpc>
                <a:spcPts val="1900"/>
              </a:lnSpc>
              <a:buSzPct val="100000"/>
              <a:buChar char="•"/>
            </a:pPr>
            <a:r>
              <a:rPr lang="en-US" sz="1200" dirty="0">
                <a:solidFill>
                  <a:srgbClr val="333F70"/>
                </a:solidFill>
                <a:latin typeface="Open Sans" pitchFamily="34" charset="0"/>
                <a:ea typeface="Open Sans" pitchFamily="34" charset="-122"/>
                <a:cs typeface="Open Sans" pitchFamily="34" charset="-120"/>
              </a:rPr>
              <a:t>Integrated blockchain technology for immutable data records and tokenomics.</a:t>
            </a:r>
            <a:endParaRPr lang="en-US" sz="1200" dirty="0"/>
          </a:p>
        </p:txBody>
      </p:sp>
      <p:sp>
        <p:nvSpPr>
          <p:cNvPr id="19" name="Text 15"/>
          <p:cNvSpPr/>
          <p:nvPr/>
        </p:nvSpPr>
        <p:spPr>
          <a:xfrm>
            <a:off x="7567851" y="4636056"/>
            <a:ext cx="6349841" cy="245269"/>
          </a:xfrm>
          <a:prstGeom prst="rect">
            <a:avLst/>
          </a:prstGeom>
          <a:noFill/>
          <a:ln/>
        </p:spPr>
        <p:txBody>
          <a:bodyPr wrap="none" lIns="0" tIns="0" rIns="0" bIns="0" rtlCol="0" anchor="t"/>
          <a:lstStyle/>
          <a:p>
            <a:pPr marL="342900" indent="-342900" algn="l">
              <a:lnSpc>
                <a:spcPts val="1900"/>
              </a:lnSpc>
              <a:buSzPct val="100000"/>
              <a:buChar char="•"/>
            </a:pPr>
            <a:r>
              <a:rPr lang="en-US" sz="1200" dirty="0">
                <a:solidFill>
                  <a:srgbClr val="333F70"/>
                </a:solidFill>
                <a:latin typeface="Open Sans" pitchFamily="34" charset="0"/>
                <a:ea typeface="Open Sans" pitchFamily="34" charset="-122"/>
                <a:cs typeface="Open Sans" pitchFamily="34" charset="-120"/>
              </a:rPr>
              <a:t>Released V1 of our intuitive data analytics dashboard for commercial clients.</a:t>
            </a:r>
            <a:endParaRPr lang="en-US" sz="1200" dirty="0"/>
          </a:p>
        </p:txBody>
      </p:sp>
      <p:sp>
        <p:nvSpPr>
          <p:cNvPr id="20" name="Shape 16"/>
          <p:cNvSpPr/>
          <p:nvPr/>
        </p:nvSpPr>
        <p:spPr>
          <a:xfrm>
            <a:off x="536615" y="5210651"/>
            <a:ext cx="6701909" cy="2231827"/>
          </a:xfrm>
          <a:prstGeom prst="roundRect">
            <a:avLst>
              <a:gd name="adj" fmla="val 2885"/>
            </a:avLst>
          </a:prstGeom>
          <a:solidFill>
            <a:srgbClr val="FFFFFF"/>
          </a:solidFill>
          <a:ln w="22860">
            <a:solidFill>
              <a:srgbClr val="BCDBD4"/>
            </a:solidFill>
            <a:prstDash val="solid"/>
          </a:ln>
        </p:spPr>
        <p:txBody>
          <a:bodyPr/>
          <a:lstStyle/>
          <a:p>
            <a:endParaRPr lang="en-US"/>
          </a:p>
        </p:txBody>
      </p:sp>
      <p:sp>
        <p:nvSpPr>
          <p:cNvPr id="21" name="Shape 17"/>
          <p:cNvSpPr/>
          <p:nvPr/>
        </p:nvSpPr>
        <p:spPr>
          <a:xfrm>
            <a:off x="559475" y="5233511"/>
            <a:ext cx="6656189" cy="459938"/>
          </a:xfrm>
          <a:prstGeom prst="roundRect">
            <a:avLst>
              <a:gd name="adj" fmla="val 8036"/>
            </a:avLst>
          </a:prstGeom>
          <a:solidFill>
            <a:srgbClr val="D6F5EE"/>
          </a:solidFill>
          <a:ln/>
        </p:spPr>
        <p:txBody>
          <a:bodyPr/>
          <a:lstStyle/>
          <a:p>
            <a:endParaRPr lang="en-US"/>
          </a:p>
        </p:txBody>
      </p:sp>
      <p:pic>
        <p:nvPicPr>
          <p:cNvPr id="2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772614" y="5344597"/>
            <a:ext cx="229910" cy="229910"/>
          </a:xfrm>
          <a:prstGeom prst="rect">
            <a:avLst/>
          </a:prstGeom>
        </p:spPr>
      </p:pic>
      <p:sp>
        <p:nvSpPr>
          <p:cNvPr id="23" name="Text 18"/>
          <p:cNvSpPr/>
          <p:nvPr/>
        </p:nvSpPr>
        <p:spPr>
          <a:xfrm>
            <a:off x="712708" y="5846683"/>
            <a:ext cx="2374344" cy="239554"/>
          </a:xfrm>
          <a:prstGeom prst="rect">
            <a:avLst/>
          </a:prstGeom>
          <a:noFill/>
          <a:ln/>
        </p:spPr>
        <p:txBody>
          <a:bodyPr wrap="none" lIns="0" tIns="0" rIns="0" bIns="0" rtlCol="0" anchor="t"/>
          <a:lstStyle/>
          <a:p>
            <a:pPr marL="0" indent="0" algn="l">
              <a:lnSpc>
                <a:spcPts val="1850"/>
              </a:lnSpc>
              <a:buNone/>
            </a:pPr>
            <a:r>
              <a:rPr lang="en-US" b="1" dirty="0">
                <a:solidFill>
                  <a:srgbClr val="333F70"/>
                </a:solidFill>
                <a:latin typeface="Unbounded Bold" pitchFamily="34" charset="0"/>
                <a:ea typeface="Unbounded Bold" pitchFamily="34" charset="-122"/>
                <a:cs typeface="Unbounded Bold" pitchFamily="34" charset="-120"/>
              </a:rPr>
              <a:t>Community Growth</a:t>
            </a:r>
            <a:endParaRPr lang="en-US" dirty="0"/>
          </a:p>
        </p:txBody>
      </p:sp>
      <p:sp>
        <p:nvSpPr>
          <p:cNvPr id="24" name="Text 19"/>
          <p:cNvSpPr/>
          <p:nvPr/>
        </p:nvSpPr>
        <p:spPr>
          <a:xfrm>
            <a:off x="712708" y="6178153"/>
            <a:ext cx="6349722" cy="245269"/>
          </a:xfrm>
          <a:prstGeom prst="rect">
            <a:avLst/>
          </a:prstGeom>
          <a:noFill/>
          <a:ln/>
        </p:spPr>
        <p:txBody>
          <a:bodyPr wrap="none" lIns="0" tIns="0" rIns="0" bIns="0" rtlCol="0" anchor="t"/>
          <a:lstStyle/>
          <a:p>
            <a:pPr marL="342900" indent="-342900" algn="l">
              <a:lnSpc>
                <a:spcPts val="1900"/>
              </a:lnSpc>
              <a:buSzPct val="100000"/>
              <a:buChar char="•"/>
            </a:pPr>
            <a:r>
              <a:rPr lang="en-US" sz="1200" dirty="0">
                <a:solidFill>
                  <a:srgbClr val="333F70"/>
                </a:solidFill>
                <a:latin typeface="Open Sans" pitchFamily="34" charset="0"/>
                <a:ea typeface="Open Sans" pitchFamily="34" charset="-122"/>
                <a:cs typeface="Open Sans" pitchFamily="34" charset="-120"/>
              </a:rPr>
              <a:t>Cultivated an active community of 100+ members across social platforms.</a:t>
            </a:r>
            <a:endParaRPr lang="en-US" sz="1200" dirty="0"/>
          </a:p>
        </p:txBody>
      </p:sp>
      <p:sp>
        <p:nvSpPr>
          <p:cNvPr id="25" name="Text 20"/>
          <p:cNvSpPr/>
          <p:nvPr/>
        </p:nvSpPr>
        <p:spPr>
          <a:xfrm>
            <a:off x="712708" y="6477000"/>
            <a:ext cx="6349722" cy="245269"/>
          </a:xfrm>
          <a:prstGeom prst="rect">
            <a:avLst/>
          </a:prstGeom>
          <a:noFill/>
          <a:ln/>
        </p:spPr>
        <p:txBody>
          <a:bodyPr wrap="none" lIns="0" tIns="0" rIns="0" bIns="0" rtlCol="0" anchor="t"/>
          <a:lstStyle/>
          <a:p>
            <a:pPr marL="342900" indent="-342900" algn="l">
              <a:lnSpc>
                <a:spcPts val="1900"/>
              </a:lnSpc>
              <a:buSzPct val="100000"/>
              <a:buChar char="•"/>
            </a:pPr>
            <a:r>
              <a:rPr lang="en-US" sz="1200" dirty="0">
                <a:solidFill>
                  <a:srgbClr val="333F70"/>
                </a:solidFill>
                <a:latin typeface="Open Sans" pitchFamily="34" charset="0"/>
                <a:ea typeface="Open Sans" pitchFamily="34" charset="-122"/>
                <a:cs typeface="Open Sans" pitchFamily="34" charset="-120"/>
              </a:rPr>
              <a:t>Successfully onboarded 50+ early data contributors in pilot programs.</a:t>
            </a:r>
            <a:endParaRPr lang="en-US" sz="1200" dirty="0"/>
          </a:p>
        </p:txBody>
      </p:sp>
      <p:sp>
        <p:nvSpPr>
          <p:cNvPr id="26" name="Text 21"/>
          <p:cNvSpPr/>
          <p:nvPr/>
        </p:nvSpPr>
        <p:spPr>
          <a:xfrm>
            <a:off x="712708" y="6775847"/>
            <a:ext cx="6349722" cy="245269"/>
          </a:xfrm>
          <a:prstGeom prst="rect">
            <a:avLst/>
          </a:prstGeom>
          <a:noFill/>
          <a:ln/>
        </p:spPr>
        <p:txBody>
          <a:bodyPr wrap="none" lIns="0" tIns="0" rIns="0" bIns="0" rtlCol="0" anchor="t"/>
          <a:lstStyle/>
          <a:p>
            <a:pPr marL="342900" indent="-342900" algn="l">
              <a:lnSpc>
                <a:spcPts val="1900"/>
              </a:lnSpc>
              <a:buSzPct val="100000"/>
              <a:buChar char="•"/>
            </a:pPr>
            <a:r>
              <a:rPr lang="en-US" sz="1200" dirty="0">
                <a:solidFill>
                  <a:srgbClr val="333F70"/>
                </a:solidFill>
                <a:latin typeface="Open Sans" pitchFamily="34" charset="0"/>
                <a:ea typeface="Open Sans" pitchFamily="34" charset="-122"/>
                <a:cs typeface="Open Sans" pitchFamily="34" charset="-120"/>
              </a:rPr>
              <a:t>Launched a global ambassador program with active participants in 15 countries.</a:t>
            </a:r>
            <a:endParaRPr lang="en-US" sz="1200" dirty="0"/>
          </a:p>
        </p:txBody>
      </p:sp>
      <p:sp>
        <p:nvSpPr>
          <p:cNvPr id="27" name="Shape 22"/>
          <p:cNvSpPr/>
          <p:nvPr/>
        </p:nvSpPr>
        <p:spPr>
          <a:xfrm>
            <a:off x="7391757" y="5210651"/>
            <a:ext cx="6702028" cy="2231827"/>
          </a:xfrm>
          <a:prstGeom prst="roundRect">
            <a:avLst>
              <a:gd name="adj" fmla="val 2885"/>
            </a:avLst>
          </a:prstGeom>
          <a:solidFill>
            <a:srgbClr val="FFFFFF"/>
          </a:solidFill>
          <a:ln w="22860">
            <a:solidFill>
              <a:srgbClr val="BCDBD4"/>
            </a:solidFill>
            <a:prstDash val="solid"/>
          </a:ln>
        </p:spPr>
        <p:txBody>
          <a:bodyPr/>
          <a:lstStyle/>
          <a:p>
            <a:endParaRPr lang="en-US"/>
          </a:p>
        </p:txBody>
      </p:sp>
      <p:sp>
        <p:nvSpPr>
          <p:cNvPr id="28" name="Shape 23"/>
          <p:cNvSpPr/>
          <p:nvPr/>
        </p:nvSpPr>
        <p:spPr>
          <a:xfrm>
            <a:off x="7414617" y="5233511"/>
            <a:ext cx="6656308" cy="459938"/>
          </a:xfrm>
          <a:prstGeom prst="roundRect">
            <a:avLst>
              <a:gd name="adj" fmla="val 8036"/>
            </a:avLst>
          </a:prstGeom>
          <a:solidFill>
            <a:srgbClr val="D6F5EE"/>
          </a:solidFill>
          <a:ln/>
        </p:spPr>
        <p:txBody>
          <a:bodyPr/>
          <a:lstStyle/>
          <a:p>
            <a:endParaRPr lang="en-US"/>
          </a:p>
        </p:txBody>
      </p:sp>
      <p:pic>
        <p:nvPicPr>
          <p:cNvPr id="29"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627757" y="5344597"/>
            <a:ext cx="229910" cy="229910"/>
          </a:xfrm>
          <a:prstGeom prst="rect">
            <a:avLst/>
          </a:prstGeom>
        </p:spPr>
      </p:pic>
      <p:sp>
        <p:nvSpPr>
          <p:cNvPr id="30" name="Text 24"/>
          <p:cNvSpPr/>
          <p:nvPr/>
        </p:nvSpPr>
        <p:spPr>
          <a:xfrm>
            <a:off x="7567851" y="5846683"/>
            <a:ext cx="2620685" cy="239554"/>
          </a:xfrm>
          <a:prstGeom prst="rect">
            <a:avLst/>
          </a:prstGeom>
          <a:noFill/>
          <a:ln/>
        </p:spPr>
        <p:txBody>
          <a:bodyPr wrap="none" lIns="0" tIns="0" rIns="0" bIns="0" rtlCol="0" anchor="t"/>
          <a:lstStyle/>
          <a:p>
            <a:pPr marL="0" indent="0" algn="l">
              <a:lnSpc>
                <a:spcPts val="1850"/>
              </a:lnSpc>
              <a:buNone/>
            </a:pPr>
            <a:r>
              <a:rPr lang="en-US" b="1" dirty="0">
                <a:solidFill>
                  <a:srgbClr val="333F70"/>
                </a:solidFill>
                <a:latin typeface="Unbounded Bold" pitchFamily="34" charset="0"/>
                <a:ea typeface="Unbounded Bold" pitchFamily="34" charset="-122"/>
                <a:cs typeface="Unbounded Bold" pitchFamily="34" charset="-120"/>
              </a:rPr>
              <a:t>Product Development</a:t>
            </a:r>
            <a:endParaRPr lang="en-US" dirty="0"/>
          </a:p>
        </p:txBody>
      </p:sp>
      <p:sp>
        <p:nvSpPr>
          <p:cNvPr id="31" name="Text 25"/>
          <p:cNvSpPr/>
          <p:nvPr/>
        </p:nvSpPr>
        <p:spPr>
          <a:xfrm>
            <a:off x="7567851" y="6178153"/>
            <a:ext cx="6349841" cy="490538"/>
          </a:xfrm>
          <a:prstGeom prst="rect">
            <a:avLst/>
          </a:prstGeom>
          <a:noFill/>
          <a:ln/>
        </p:spPr>
        <p:txBody>
          <a:bodyPr wrap="square" lIns="0" tIns="0" rIns="0" bIns="0" rtlCol="0" anchor="t"/>
          <a:lstStyle/>
          <a:p>
            <a:pPr marL="342900" indent="-342900" algn="l">
              <a:lnSpc>
                <a:spcPts val="1900"/>
              </a:lnSpc>
              <a:buSzPct val="100000"/>
              <a:buChar char="•"/>
            </a:pPr>
            <a:r>
              <a:rPr lang="en-US" sz="1200" dirty="0">
                <a:solidFill>
                  <a:srgbClr val="333F70"/>
                </a:solidFill>
                <a:latin typeface="Open Sans" pitchFamily="34" charset="0"/>
                <a:ea typeface="Open Sans" pitchFamily="34" charset="-122"/>
                <a:cs typeface="Open Sans" pitchFamily="34" charset="-120"/>
              </a:rPr>
              <a:t>Released a user-friendly mobile application for streamlined data submission and rewards.</a:t>
            </a:r>
            <a:endParaRPr lang="en-US" sz="1200" dirty="0"/>
          </a:p>
        </p:txBody>
      </p:sp>
      <p:sp>
        <p:nvSpPr>
          <p:cNvPr id="32" name="Text 26"/>
          <p:cNvSpPr/>
          <p:nvPr/>
        </p:nvSpPr>
        <p:spPr>
          <a:xfrm>
            <a:off x="7567851" y="6722269"/>
            <a:ext cx="6349841" cy="245269"/>
          </a:xfrm>
          <a:prstGeom prst="rect">
            <a:avLst/>
          </a:prstGeom>
          <a:noFill/>
          <a:ln/>
        </p:spPr>
        <p:txBody>
          <a:bodyPr wrap="none" lIns="0" tIns="0" rIns="0" bIns="0" rtlCol="0" anchor="t"/>
          <a:lstStyle/>
          <a:p>
            <a:pPr marL="342900" indent="-342900" algn="l">
              <a:lnSpc>
                <a:spcPts val="1900"/>
              </a:lnSpc>
              <a:buSzPct val="100000"/>
              <a:buChar char="•"/>
            </a:pPr>
            <a:r>
              <a:rPr lang="en-US" sz="1200" dirty="0">
                <a:solidFill>
                  <a:srgbClr val="333F70"/>
                </a:solidFill>
                <a:latin typeface="Open Sans" pitchFamily="34" charset="0"/>
                <a:ea typeface="Open Sans" pitchFamily="34" charset="-122"/>
                <a:cs typeface="Open Sans" pitchFamily="34" charset="-120"/>
              </a:rPr>
              <a:t>Introduced advanced noise trend analysis and predictive modeling features.</a:t>
            </a:r>
            <a:endParaRPr lang="en-US" sz="1200" dirty="0"/>
          </a:p>
        </p:txBody>
      </p:sp>
      <p:sp>
        <p:nvSpPr>
          <p:cNvPr id="33" name="Text 27"/>
          <p:cNvSpPr/>
          <p:nvPr/>
        </p:nvSpPr>
        <p:spPr>
          <a:xfrm>
            <a:off x="7567851" y="7021116"/>
            <a:ext cx="6349841" cy="245269"/>
          </a:xfrm>
          <a:prstGeom prst="rect">
            <a:avLst/>
          </a:prstGeom>
          <a:noFill/>
          <a:ln/>
        </p:spPr>
        <p:txBody>
          <a:bodyPr wrap="none" lIns="0" tIns="0" rIns="0" bIns="0" rtlCol="0" anchor="t"/>
          <a:lstStyle/>
          <a:p>
            <a:pPr marL="342900" indent="-342900" algn="l">
              <a:lnSpc>
                <a:spcPts val="1900"/>
              </a:lnSpc>
              <a:buSzPct val="100000"/>
              <a:buChar char="•"/>
            </a:pPr>
            <a:r>
              <a:rPr lang="en-US" sz="1200" dirty="0">
                <a:solidFill>
                  <a:srgbClr val="333F70"/>
                </a:solidFill>
                <a:latin typeface="Open Sans" pitchFamily="34" charset="0"/>
                <a:ea typeface="Open Sans" pitchFamily="34" charset="-122"/>
                <a:cs typeface="Open Sans" pitchFamily="34" charset="-120"/>
              </a:rPr>
              <a:t>Developed an SDK to enable seamless integration for third-party applications.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32817" y="497205"/>
            <a:ext cx="13364766" cy="1130141"/>
          </a:xfrm>
          <a:prstGeom prst="rect">
            <a:avLst/>
          </a:prstGeom>
          <a:noFill/>
          <a:ln/>
        </p:spPr>
        <p:txBody>
          <a:bodyPr wrap="square" lIns="0" tIns="0" rIns="0" bIns="0" rtlCol="0" anchor="t"/>
          <a:lstStyle/>
          <a:p>
            <a:pPr marL="0" indent="0" algn="l">
              <a:lnSpc>
                <a:spcPts val="4400"/>
              </a:lnSpc>
              <a:buNone/>
            </a:pPr>
            <a:r>
              <a:rPr lang="en-US" sz="3550" b="1" dirty="0">
                <a:solidFill>
                  <a:srgbClr val="333F70"/>
                </a:solidFill>
                <a:latin typeface="Unbounded Bold" pitchFamily="34" charset="0"/>
                <a:ea typeface="Unbounded Bold" pitchFamily="34" charset="-122"/>
                <a:cs typeface="Unbounded Bold" pitchFamily="34" charset="-120"/>
              </a:rPr>
              <a:t>Tokenomics: Rewarding Integrity and Discovery</a:t>
            </a:r>
            <a:endParaRPr lang="en-US" sz="3550" dirty="0"/>
          </a:p>
        </p:txBody>
      </p:sp>
      <p:sp>
        <p:nvSpPr>
          <p:cNvPr id="3" name="Text 1"/>
          <p:cNvSpPr/>
          <p:nvPr/>
        </p:nvSpPr>
        <p:spPr>
          <a:xfrm>
            <a:off x="632817" y="2079308"/>
            <a:ext cx="2712363" cy="338971"/>
          </a:xfrm>
          <a:prstGeom prst="rect">
            <a:avLst/>
          </a:prstGeom>
          <a:noFill/>
          <a:ln/>
        </p:spPr>
        <p:txBody>
          <a:bodyPr wrap="none" lIns="0" tIns="0" rIns="0" bIns="0" rtlCol="0" anchor="t"/>
          <a:lstStyle/>
          <a:p>
            <a:pPr marL="0" indent="0" algn="l">
              <a:lnSpc>
                <a:spcPts val="2650"/>
              </a:lnSpc>
              <a:buNone/>
            </a:pPr>
            <a:r>
              <a:rPr lang="en-US" sz="2100" b="1" dirty="0">
                <a:solidFill>
                  <a:srgbClr val="333F70"/>
                </a:solidFill>
                <a:latin typeface="Unbounded Bold" pitchFamily="34" charset="0"/>
                <a:ea typeface="Unbounded Bold" pitchFamily="34" charset="-122"/>
                <a:cs typeface="Unbounded Bold" pitchFamily="34" charset="-120"/>
              </a:rPr>
              <a:t>Token Utility</a:t>
            </a:r>
            <a:endParaRPr lang="en-US" sz="2100" dirty="0"/>
          </a:p>
        </p:txBody>
      </p:sp>
      <p:sp>
        <p:nvSpPr>
          <p:cNvPr id="4" name="Text 2"/>
          <p:cNvSpPr/>
          <p:nvPr/>
        </p:nvSpPr>
        <p:spPr>
          <a:xfrm>
            <a:off x="632817" y="2599015"/>
            <a:ext cx="5081230" cy="289322"/>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333F70"/>
                </a:solidFill>
                <a:latin typeface="Open Sans" pitchFamily="34" charset="0"/>
                <a:ea typeface="Open Sans" pitchFamily="34" charset="-122"/>
                <a:cs typeface="Open Sans" pitchFamily="34" charset="-120"/>
              </a:rPr>
              <a:t>Payment for data access (Tier 2)</a:t>
            </a:r>
            <a:endParaRPr lang="en-US" sz="1400" dirty="0"/>
          </a:p>
        </p:txBody>
      </p:sp>
      <p:sp>
        <p:nvSpPr>
          <p:cNvPr id="5" name="Text 3"/>
          <p:cNvSpPr/>
          <p:nvPr/>
        </p:nvSpPr>
        <p:spPr>
          <a:xfrm>
            <a:off x="632817" y="2951559"/>
            <a:ext cx="5081230" cy="289322"/>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333F70"/>
                </a:solidFill>
                <a:latin typeface="Open Sans" pitchFamily="34" charset="0"/>
                <a:ea typeface="Open Sans" pitchFamily="34" charset="-122"/>
                <a:cs typeface="Open Sans" pitchFamily="34" charset="-120"/>
              </a:rPr>
              <a:t>Staking for validation</a:t>
            </a:r>
            <a:endParaRPr lang="en-US" sz="1400" dirty="0"/>
          </a:p>
        </p:txBody>
      </p:sp>
      <p:sp>
        <p:nvSpPr>
          <p:cNvPr id="6" name="Text 4"/>
          <p:cNvSpPr/>
          <p:nvPr/>
        </p:nvSpPr>
        <p:spPr>
          <a:xfrm>
            <a:off x="632817" y="3304103"/>
            <a:ext cx="5081230" cy="289322"/>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333F70"/>
                </a:solidFill>
                <a:latin typeface="Open Sans" pitchFamily="34" charset="0"/>
                <a:ea typeface="Open Sans" pitchFamily="34" charset="-122"/>
                <a:cs typeface="Open Sans" pitchFamily="34" charset="-120"/>
              </a:rPr>
              <a:t>Governance participation</a:t>
            </a:r>
            <a:endParaRPr lang="en-US" sz="1400" dirty="0"/>
          </a:p>
        </p:txBody>
      </p:sp>
      <p:sp>
        <p:nvSpPr>
          <p:cNvPr id="7" name="Text 5"/>
          <p:cNvSpPr/>
          <p:nvPr/>
        </p:nvSpPr>
        <p:spPr>
          <a:xfrm>
            <a:off x="632817" y="3656648"/>
            <a:ext cx="5081230" cy="289322"/>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333F70"/>
                </a:solidFill>
                <a:latin typeface="Open Sans" pitchFamily="34" charset="0"/>
                <a:ea typeface="Open Sans" pitchFamily="34" charset="-122"/>
                <a:cs typeface="Open Sans" pitchFamily="34" charset="-120"/>
              </a:rPr>
              <a:t>Rewards for user contributions</a:t>
            </a:r>
            <a:endParaRPr lang="en-US" sz="1400" dirty="0"/>
          </a:p>
        </p:txBody>
      </p:sp>
      <p:sp>
        <p:nvSpPr>
          <p:cNvPr id="8" name="Text 6"/>
          <p:cNvSpPr/>
          <p:nvPr/>
        </p:nvSpPr>
        <p:spPr>
          <a:xfrm>
            <a:off x="632817" y="4126706"/>
            <a:ext cx="2712363" cy="338971"/>
          </a:xfrm>
          <a:prstGeom prst="rect">
            <a:avLst/>
          </a:prstGeom>
          <a:noFill/>
          <a:ln/>
        </p:spPr>
        <p:txBody>
          <a:bodyPr wrap="none" lIns="0" tIns="0" rIns="0" bIns="0" rtlCol="0" anchor="t"/>
          <a:lstStyle/>
          <a:p>
            <a:pPr marL="0" indent="0" algn="l">
              <a:lnSpc>
                <a:spcPts val="2650"/>
              </a:lnSpc>
              <a:buNone/>
            </a:pPr>
            <a:r>
              <a:rPr lang="en-US" sz="2100" b="1" dirty="0">
                <a:solidFill>
                  <a:srgbClr val="333F70"/>
                </a:solidFill>
                <a:latin typeface="Unbounded Bold" pitchFamily="34" charset="0"/>
                <a:ea typeface="Unbounded Bold" pitchFamily="34" charset="-122"/>
                <a:cs typeface="Unbounded Bold" pitchFamily="34" charset="-120"/>
              </a:rPr>
              <a:t>Supply</a:t>
            </a:r>
            <a:endParaRPr lang="en-US" sz="2100" dirty="0"/>
          </a:p>
        </p:txBody>
      </p:sp>
      <p:sp>
        <p:nvSpPr>
          <p:cNvPr id="9" name="Text 7"/>
          <p:cNvSpPr/>
          <p:nvPr/>
        </p:nvSpPr>
        <p:spPr>
          <a:xfrm>
            <a:off x="632817" y="4646414"/>
            <a:ext cx="5081230" cy="289322"/>
          </a:xfrm>
          <a:prstGeom prst="rect">
            <a:avLst/>
          </a:prstGeom>
          <a:noFill/>
          <a:ln/>
        </p:spPr>
        <p:txBody>
          <a:bodyPr wrap="none" lIns="0" tIns="0" rIns="0" bIns="0" rtlCol="0" anchor="t"/>
          <a:lstStyle/>
          <a:p>
            <a:pPr marL="0" indent="0" algn="l">
              <a:lnSpc>
                <a:spcPts val="2250"/>
              </a:lnSpc>
              <a:buNone/>
            </a:pPr>
            <a:r>
              <a:rPr lang="en-US" sz="1400" b="1" dirty="0">
                <a:solidFill>
                  <a:srgbClr val="333F70"/>
                </a:solidFill>
                <a:latin typeface="Open Sans" pitchFamily="34" charset="0"/>
                <a:ea typeface="Open Sans" pitchFamily="34" charset="-122"/>
                <a:cs typeface="Open Sans" pitchFamily="34" charset="-120"/>
              </a:rPr>
              <a:t>Total:</a:t>
            </a:r>
            <a:r>
              <a:rPr lang="en-US" sz="1400" dirty="0">
                <a:solidFill>
                  <a:srgbClr val="333F70"/>
                </a:solidFill>
                <a:latin typeface="Open Sans" pitchFamily="34" charset="0"/>
                <a:ea typeface="Open Sans" pitchFamily="34" charset="-122"/>
                <a:cs typeface="Open Sans" pitchFamily="34" charset="-120"/>
              </a:rPr>
              <a:t> 50B $HUSH</a:t>
            </a:r>
            <a:endParaRPr lang="en-US" sz="1400" dirty="0"/>
          </a:p>
        </p:txBody>
      </p:sp>
      <p:sp>
        <p:nvSpPr>
          <p:cNvPr id="10" name="Text 8"/>
          <p:cNvSpPr/>
          <p:nvPr/>
        </p:nvSpPr>
        <p:spPr>
          <a:xfrm>
            <a:off x="632817" y="5098375"/>
            <a:ext cx="5081230" cy="289322"/>
          </a:xfrm>
          <a:prstGeom prst="rect">
            <a:avLst/>
          </a:prstGeom>
          <a:noFill/>
          <a:ln/>
        </p:spPr>
        <p:txBody>
          <a:bodyPr wrap="none" lIns="0" tIns="0" rIns="0" bIns="0" rtlCol="0" anchor="t"/>
          <a:lstStyle/>
          <a:p>
            <a:pPr marL="0" indent="0" algn="l">
              <a:lnSpc>
                <a:spcPts val="2250"/>
              </a:lnSpc>
              <a:buNone/>
            </a:pPr>
            <a:r>
              <a:rPr lang="en-US" sz="1400" b="1" dirty="0">
                <a:solidFill>
                  <a:srgbClr val="333F70"/>
                </a:solidFill>
                <a:latin typeface="Open Sans" pitchFamily="34" charset="0"/>
                <a:ea typeface="Open Sans" pitchFamily="34" charset="-122"/>
                <a:cs typeface="Open Sans" pitchFamily="34" charset="-120"/>
              </a:rPr>
              <a:t>Initial Circulating:</a:t>
            </a:r>
            <a:r>
              <a:rPr lang="en-US" sz="1400" dirty="0">
                <a:solidFill>
                  <a:srgbClr val="333F70"/>
                </a:solidFill>
                <a:latin typeface="Open Sans" pitchFamily="34" charset="0"/>
                <a:ea typeface="Open Sans" pitchFamily="34" charset="-122"/>
                <a:cs typeface="Open Sans" pitchFamily="34" charset="-120"/>
              </a:rPr>
              <a:t> 10M $HUSH (0.02%)</a:t>
            </a:r>
            <a:endParaRPr lang="en-US" sz="1400" dirty="0"/>
          </a:p>
        </p:txBody>
      </p:sp>
      <p:pic>
        <p:nvPicPr>
          <p:cNvPr id="11" name="Image 0" descr="preencoded.png"/>
          <p:cNvPicPr>
            <a:picLocks noChangeAspect="1"/>
          </p:cNvPicPr>
          <p:nvPr/>
        </p:nvPicPr>
        <p:blipFill>
          <a:blip r:embed="rId3"/>
          <a:stretch>
            <a:fillRect/>
          </a:stretch>
        </p:blipFill>
        <p:spPr>
          <a:xfrm>
            <a:off x="6153992" y="1150679"/>
            <a:ext cx="7842409" cy="4180403"/>
          </a:xfrm>
          <a:prstGeom prst="rect">
            <a:avLst/>
          </a:prstGeom>
        </p:spPr>
      </p:pic>
      <p:sp>
        <p:nvSpPr>
          <p:cNvPr id="12" name="Shape 9"/>
          <p:cNvSpPr/>
          <p:nvPr/>
        </p:nvSpPr>
        <p:spPr>
          <a:xfrm>
            <a:off x="6430998" y="5575518"/>
            <a:ext cx="180737" cy="180737"/>
          </a:xfrm>
          <a:prstGeom prst="roundRect">
            <a:avLst>
              <a:gd name="adj" fmla="val 10119"/>
            </a:avLst>
          </a:prstGeom>
          <a:solidFill>
            <a:srgbClr val="0E3E33"/>
          </a:solidFill>
          <a:ln/>
        </p:spPr>
        <p:txBody>
          <a:bodyPr/>
          <a:lstStyle/>
          <a:p>
            <a:endParaRPr lang="en-US"/>
          </a:p>
        </p:txBody>
      </p:sp>
      <p:sp>
        <p:nvSpPr>
          <p:cNvPr id="13" name="Text 10"/>
          <p:cNvSpPr/>
          <p:nvPr/>
        </p:nvSpPr>
        <p:spPr>
          <a:xfrm>
            <a:off x="6672695" y="5575518"/>
            <a:ext cx="1298972" cy="180856"/>
          </a:xfrm>
          <a:prstGeom prst="rect">
            <a:avLst/>
          </a:prstGeom>
          <a:noFill/>
          <a:ln/>
        </p:spPr>
        <p:txBody>
          <a:bodyPr wrap="none" lIns="0" tIns="0" rIns="0" bIns="0" rtlCol="0" anchor="t"/>
          <a:lstStyle/>
          <a:p>
            <a:pPr marL="0" indent="0" algn="l">
              <a:lnSpc>
                <a:spcPts val="1400"/>
              </a:lnSpc>
              <a:buNone/>
            </a:pPr>
            <a:r>
              <a:rPr lang="en-US" sz="1400" dirty="0">
                <a:solidFill>
                  <a:srgbClr val="333F70"/>
                </a:solidFill>
                <a:latin typeface="Open Sans" pitchFamily="34" charset="0"/>
                <a:ea typeface="Open Sans" pitchFamily="34" charset="-122"/>
                <a:cs typeface="Open Sans" pitchFamily="34" charset="-120"/>
              </a:rPr>
              <a:t>DePIN Rewards</a:t>
            </a:r>
            <a:endParaRPr lang="en-US" sz="1400" dirty="0"/>
          </a:p>
        </p:txBody>
      </p:sp>
      <p:sp>
        <p:nvSpPr>
          <p:cNvPr id="14" name="Shape 11"/>
          <p:cNvSpPr/>
          <p:nvPr/>
        </p:nvSpPr>
        <p:spPr>
          <a:xfrm>
            <a:off x="8691876" y="5575518"/>
            <a:ext cx="180737" cy="180737"/>
          </a:xfrm>
          <a:prstGeom prst="roundRect">
            <a:avLst>
              <a:gd name="adj" fmla="val 10119"/>
            </a:avLst>
          </a:prstGeom>
          <a:solidFill>
            <a:srgbClr val="1E826A"/>
          </a:solidFill>
          <a:ln/>
        </p:spPr>
        <p:txBody>
          <a:bodyPr/>
          <a:lstStyle/>
          <a:p>
            <a:endParaRPr lang="en-US"/>
          </a:p>
        </p:txBody>
      </p:sp>
      <p:sp>
        <p:nvSpPr>
          <p:cNvPr id="15" name="Text 12"/>
          <p:cNvSpPr/>
          <p:nvPr/>
        </p:nvSpPr>
        <p:spPr>
          <a:xfrm>
            <a:off x="8933573" y="5575518"/>
            <a:ext cx="468868" cy="180856"/>
          </a:xfrm>
          <a:prstGeom prst="rect">
            <a:avLst/>
          </a:prstGeom>
          <a:noFill/>
          <a:ln/>
        </p:spPr>
        <p:txBody>
          <a:bodyPr wrap="none" lIns="0" tIns="0" rIns="0" bIns="0" rtlCol="0" anchor="t"/>
          <a:lstStyle/>
          <a:p>
            <a:pPr marL="0" indent="0" algn="l">
              <a:lnSpc>
                <a:spcPts val="1400"/>
              </a:lnSpc>
              <a:buNone/>
            </a:pPr>
            <a:r>
              <a:rPr lang="en-US" sz="1400" dirty="0">
                <a:solidFill>
                  <a:srgbClr val="333F70"/>
                </a:solidFill>
                <a:latin typeface="Open Sans" pitchFamily="34" charset="0"/>
                <a:ea typeface="Open Sans" pitchFamily="34" charset="-122"/>
                <a:cs typeface="Open Sans" pitchFamily="34" charset="-120"/>
              </a:rPr>
              <a:t>Team</a:t>
            </a:r>
            <a:endParaRPr lang="en-US" sz="1400" dirty="0"/>
          </a:p>
        </p:txBody>
      </p:sp>
      <p:sp>
        <p:nvSpPr>
          <p:cNvPr id="16" name="Shape 13"/>
          <p:cNvSpPr/>
          <p:nvPr/>
        </p:nvSpPr>
        <p:spPr>
          <a:xfrm>
            <a:off x="10442809" y="5575518"/>
            <a:ext cx="180737" cy="180737"/>
          </a:xfrm>
          <a:prstGeom prst="roundRect">
            <a:avLst>
              <a:gd name="adj" fmla="val 10119"/>
            </a:avLst>
          </a:prstGeom>
          <a:solidFill>
            <a:srgbClr val="2DC5A1"/>
          </a:solidFill>
          <a:ln/>
        </p:spPr>
        <p:txBody>
          <a:bodyPr/>
          <a:lstStyle/>
          <a:p>
            <a:endParaRPr lang="en-US"/>
          </a:p>
        </p:txBody>
      </p:sp>
      <p:sp>
        <p:nvSpPr>
          <p:cNvPr id="17" name="Text 14"/>
          <p:cNvSpPr/>
          <p:nvPr/>
        </p:nvSpPr>
        <p:spPr>
          <a:xfrm>
            <a:off x="10684506" y="5575518"/>
            <a:ext cx="964406" cy="180856"/>
          </a:xfrm>
          <a:prstGeom prst="rect">
            <a:avLst/>
          </a:prstGeom>
          <a:noFill/>
          <a:ln/>
        </p:spPr>
        <p:txBody>
          <a:bodyPr wrap="none" lIns="0" tIns="0" rIns="0" bIns="0" rtlCol="0" anchor="t"/>
          <a:lstStyle/>
          <a:p>
            <a:pPr marL="0" indent="0" algn="l">
              <a:lnSpc>
                <a:spcPts val="1400"/>
              </a:lnSpc>
              <a:buNone/>
            </a:pPr>
            <a:r>
              <a:rPr lang="en-US" sz="1400" dirty="0">
                <a:solidFill>
                  <a:srgbClr val="333F70"/>
                </a:solidFill>
                <a:latin typeface="Open Sans" pitchFamily="34" charset="0"/>
                <a:ea typeface="Open Sans" pitchFamily="34" charset="-122"/>
                <a:cs typeface="Open Sans" pitchFamily="34" charset="-120"/>
              </a:rPr>
              <a:t>Foundation</a:t>
            </a:r>
            <a:endParaRPr lang="en-US" sz="1400" dirty="0"/>
          </a:p>
        </p:txBody>
      </p:sp>
      <p:sp>
        <p:nvSpPr>
          <p:cNvPr id="18" name="Shape 15"/>
          <p:cNvSpPr/>
          <p:nvPr/>
        </p:nvSpPr>
        <p:spPr>
          <a:xfrm>
            <a:off x="12121472" y="5575518"/>
            <a:ext cx="180737" cy="180737"/>
          </a:xfrm>
          <a:prstGeom prst="roundRect">
            <a:avLst>
              <a:gd name="adj" fmla="val 10119"/>
            </a:avLst>
          </a:prstGeom>
          <a:solidFill>
            <a:srgbClr val="69DDC1"/>
          </a:solidFill>
          <a:ln/>
        </p:spPr>
        <p:txBody>
          <a:bodyPr/>
          <a:lstStyle/>
          <a:p>
            <a:endParaRPr lang="en-US"/>
          </a:p>
        </p:txBody>
      </p:sp>
      <p:sp>
        <p:nvSpPr>
          <p:cNvPr id="19" name="Text 16"/>
          <p:cNvSpPr/>
          <p:nvPr/>
        </p:nvSpPr>
        <p:spPr>
          <a:xfrm>
            <a:off x="12363168" y="5575518"/>
            <a:ext cx="715685" cy="180856"/>
          </a:xfrm>
          <a:prstGeom prst="rect">
            <a:avLst/>
          </a:prstGeom>
          <a:noFill/>
          <a:ln/>
        </p:spPr>
        <p:txBody>
          <a:bodyPr wrap="none" lIns="0" tIns="0" rIns="0" bIns="0" rtlCol="0" anchor="t"/>
          <a:lstStyle/>
          <a:p>
            <a:pPr marL="0" indent="0" algn="l">
              <a:lnSpc>
                <a:spcPts val="1400"/>
              </a:lnSpc>
              <a:buNone/>
            </a:pPr>
            <a:r>
              <a:rPr lang="en-US" sz="1400" dirty="0">
                <a:solidFill>
                  <a:srgbClr val="333F70"/>
                </a:solidFill>
                <a:latin typeface="Open Sans" pitchFamily="34" charset="0"/>
                <a:ea typeface="Open Sans" pitchFamily="34" charset="-122"/>
                <a:cs typeface="Open Sans" pitchFamily="34" charset="-120"/>
              </a:rPr>
              <a:t>Advisors</a:t>
            </a:r>
            <a:endParaRPr lang="en-US" sz="1400" dirty="0"/>
          </a:p>
        </p:txBody>
      </p:sp>
      <p:sp>
        <p:nvSpPr>
          <p:cNvPr id="20" name="Shape 17"/>
          <p:cNvSpPr/>
          <p:nvPr/>
        </p:nvSpPr>
        <p:spPr>
          <a:xfrm>
            <a:off x="472277" y="6305907"/>
            <a:ext cx="6592014" cy="1376720"/>
          </a:xfrm>
          <a:prstGeom prst="roundRect">
            <a:avLst>
              <a:gd name="adj" fmla="val 7970"/>
            </a:avLst>
          </a:prstGeom>
          <a:solidFill>
            <a:srgbClr val="FFFFFF"/>
          </a:solidFill>
          <a:ln w="22860">
            <a:solidFill>
              <a:srgbClr val="BCDBD4"/>
            </a:solidFill>
            <a:prstDash val="solid"/>
          </a:ln>
        </p:spPr>
        <p:txBody>
          <a:bodyPr/>
          <a:lstStyle/>
          <a:p>
            <a:endParaRPr lang="en-US"/>
          </a:p>
        </p:txBody>
      </p:sp>
      <p:sp>
        <p:nvSpPr>
          <p:cNvPr id="21" name="Shape 18"/>
          <p:cNvSpPr/>
          <p:nvPr/>
        </p:nvSpPr>
        <p:spPr>
          <a:xfrm>
            <a:off x="449417" y="6305907"/>
            <a:ext cx="91440" cy="1376720"/>
          </a:xfrm>
          <a:prstGeom prst="roundRect">
            <a:avLst>
              <a:gd name="adj" fmla="val 83059"/>
            </a:avLst>
          </a:prstGeom>
          <a:solidFill>
            <a:srgbClr val="26A688"/>
          </a:solidFill>
          <a:ln/>
        </p:spPr>
        <p:txBody>
          <a:bodyPr/>
          <a:lstStyle/>
          <a:p>
            <a:endParaRPr lang="en-US"/>
          </a:p>
        </p:txBody>
      </p:sp>
      <p:sp>
        <p:nvSpPr>
          <p:cNvPr id="22" name="Text 19"/>
          <p:cNvSpPr/>
          <p:nvPr/>
        </p:nvSpPr>
        <p:spPr>
          <a:xfrm>
            <a:off x="744454" y="6509504"/>
            <a:ext cx="4570095" cy="282416"/>
          </a:xfrm>
          <a:prstGeom prst="rect">
            <a:avLst/>
          </a:prstGeom>
          <a:noFill/>
          <a:ln/>
        </p:spPr>
        <p:txBody>
          <a:bodyPr wrap="none" lIns="0" tIns="0" rIns="0" bIns="0" rtlCol="0" anchor="t"/>
          <a:lstStyle/>
          <a:p>
            <a:pPr marL="0" indent="0" algn="l">
              <a:lnSpc>
                <a:spcPts val="2200"/>
              </a:lnSpc>
              <a:buNone/>
            </a:pPr>
            <a:r>
              <a:rPr lang="en-US" sz="1750" b="1" dirty="0">
                <a:solidFill>
                  <a:srgbClr val="333F70"/>
                </a:solidFill>
                <a:latin typeface="Unbounded Bold" pitchFamily="34" charset="0"/>
                <a:ea typeface="Unbounded Bold" pitchFamily="34" charset="-122"/>
                <a:cs typeface="Unbounded Bold" pitchFamily="34" charset="-120"/>
              </a:rPr>
              <a:t>Quiet Discovery Multiplier (QDM)</a:t>
            </a:r>
            <a:endParaRPr lang="en-US" sz="1750" dirty="0"/>
          </a:p>
        </p:txBody>
      </p:sp>
      <p:sp>
        <p:nvSpPr>
          <p:cNvPr id="23" name="Text 20"/>
          <p:cNvSpPr/>
          <p:nvPr/>
        </p:nvSpPr>
        <p:spPr>
          <a:xfrm>
            <a:off x="744454" y="6900386"/>
            <a:ext cx="6116241" cy="289322"/>
          </a:xfrm>
          <a:prstGeom prst="rect">
            <a:avLst/>
          </a:prstGeom>
          <a:noFill/>
          <a:ln/>
        </p:spPr>
        <p:txBody>
          <a:bodyPr wrap="none" lIns="0" tIns="0" rIns="0" bIns="0" rtlCol="0" anchor="t"/>
          <a:lstStyle/>
          <a:p>
            <a:pPr marL="0" indent="0" algn="l">
              <a:lnSpc>
                <a:spcPts val="2250"/>
              </a:lnSpc>
              <a:buNone/>
            </a:pPr>
            <a:r>
              <a:rPr lang="en-US" sz="1400" dirty="0">
                <a:solidFill>
                  <a:srgbClr val="333F70"/>
                </a:solidFill>
                <a:latin typeface="Open Sans" pitchFamily="34" charset="0"/>
                <a:ea typeface="Open Sans" pitchFamily="34" charset="-122"/>
                <a:cs typeface="Open Sans" pitchFamily="34" charset="-120"/>
              </a:rPr>
              <a:t>Rewards quiet, stable, high-integrity data contributions</a:t>
            </a:r>
            <a:endParaRPr lang="en-US" sz="1400" dirty="0"/>
          </a:p>
        </p:txBody>
      </p:sp>
      <p:sp>
        <p:nvSpPr>
          <p:cNvPr id="24" name="Shape 21"/>
          <p:cNvSpPr/>
          <p:nvPr/>
        </p:nvSpPr>
        <p:spPr>
          <a:xfrm>
            <a:off x="7245028" y="6305907"/>
            <a:ext cx="6592014" cy="1376720"/>
          </a:xfrm>
          <a:prstGeom prst="roundRect">
            <a:avLst>
              <a:gd name="adj" fmla="val 7970"/>
            </a:avLst>
          </a:prstGeom>
          <a:solidFill>
            <a:srgbClr val="FFFFFF"/>
          </a:solidFill>
          <a:ln w="22860">
            <a:solidFill>
              <a:srgbClr val="BCDBD4"/>
            </a:solidFill>
            <a:prstDash val="solid"/>
          </a:ln>
        </p:spPr>
        <p:txBody>
          <a:bodyPr/>
          <a:lstStyle/>
          <a:p>
            <a:endParaRPr lang="en-US"/>
          </a:p>
        </p:txBody>
      </p:sp>
      <p:sp>
        <p:nvSpPr>
          <p:cNvPr id="25" name="Shape 22"/>
          <p:cNvSpPr/>
          <p:nvPr/>
        </p:nvSpPr>
        <p:spPr>
          <a:xfrm>
            <a:off x="7222168" y="6305907"/>
            <a:ext cx="91440" cy="1376720"/>
          </a:xfrm>
          <a:prstGeom prst="roundRect">
            <a:avLst>
              <a:gd name="adj" fmla="val 83059"/>
            </a:avLst>
          </a:prstGeom>
          <a:solidFill>
            <a:srgbClr val="26A688"/>
          </a:solidFill>
          <a:ln/>
        </p:spPr>
        <p:txBody>
          <a:bodyPr/>
          <a:lstStyle/>
          <a:p>
            <a:endParaRPr lang="en-US"/>
          </a:p>
        </p:txBody>
      </p:sp>
      <p:sp>
        <p:nvSpPr>
          <p:cNvPr id="26" name="Text 23"/>
          <p:cNvSpPr/>
          <p:nvPr/>
        </p:nvSpPr>
        <p:spPr>
          <a:xfrm>
            <a:off x="7517205" y="6509504"/>
            <a:ext cx="4131707" cy="282416"/>
          </a:xfrm>
          <a:prstGeom prst="rect">
            <a:avLst/>
          </a:prstGeom>
          <a:noFill/>
          <a:ln/>
        </p:spPr>
        <p:txBody>
          <a:bodyPr wrap="none" lIns="0" tIns="0" rIns="0" bIns="0" rtlCol="0" anchor="t"/>
          <a:lstStyle/>
          <a:p>
            <a:pPr marL="0" indent="0" algn="l">
              <a:lnSpc>
                <a:spcPts val="2200"/>
              </a:lnSpc>
              <a:buNone/>
            </a:pPr>
            <a:r>
              <a:rPr lang="en-US" sz="1750" b="1" dirty="0">
                <a:solidFill>
                  <a:srgbClr val="333F70"/>
                </a:solidFill>
                <a:latin typeface="Unbounded Bold" pitchFamily="34" charset="0"/>
                <a:ea typeface="Unbounded Bold" pitchFamily="34" charset="-122"/>
                <a:cs typeface="Unbounded Bold" pitchFamily="34" charset="-120"/>
              </a:rPr>
              <a:t>Soundscape First-Mover NFT</a:t>
            </a:r>
            <a:endParaRPr lang="en-US" sz="1750" dirty="0"/>
          </a:p>
        </p:txBody>
      </p:sp>
      <p:sp>
        <p:nvSpPr>
          <p:cNvPr id="27" name="Text 24"/>
          <p:cNvSpPr/>
          <p:nvPr/>
        </p:nvSpPr>
        <p:spPr>
          <a:xfrm>
            <a:off x="7517205" y="6900386"/>
            <a:ext cx="6116241" cy="578644"/>
          </a:xfrm>
          <a:prstGeom prst="rect">
            <a:avLst/>
          </a:prstGeom>
          <a:noFill/>
          <a:ln/>
        </p:spPr>
        <p:txBody>
          <a:bodyPr wrap="square" lIns="0" tIns="0" rIns="0" bIns="0" rtlCol="0" anchor="t"/>
          <a:lstStyle/>
          <a:p>
            <a:pPr marL="0" indent="0" algn="l">
              <a:lnSpc>
                <a:spcPts val="2250"/>
              </a:lnSpc>
              <a:buNone/>
            </a:pPr>
            <a:r>
              <a:rPr lang="en-US" sz="1400" dirty="0">
                <a:solidFill>
                  <a:srgbClr val="333F70"/>
                </a:solidFill>
                <a:latin typeface="Open Sans" pitchFamily="34" charset="0"/>
                <a:ea typeface="Open Sans" pitchFamily="34" charset="-122"/>
                <a:cs typeface="Open Sans" pitchFamily="34" charset="-120"/>
              </a:rPr>
              <a:t>Digital badge for first user to map a new venue, providing future reward multiplier</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92706" y="703421"/>
            <a:ext cx="11115318" cy="618530"/>
          </a:xfrm>
          <a:prstGeom prst="rect">
            <a:avLst/>
          </a:prstGeom>
          <a:noFill/>
          <a:ln/>
        </p:spPr>
        <p:txBody>
          <a:bodyPr wrap="none" lIns="0" tIns="0" rIns="0" bIns="0" rtlCol="0" anchor="t"/>
          <a:lstStyle/>
          <a:p>
            <a:pPr marL="0" indent="0" algn="l">
              <a:lnSpc>
                <a:spcPts val="4850"/>
              </a:lnSpc>
              <a:buNone/>
            </a:pPr>
            <a:r>
              <a:rPr lang="en-US" sz="3850" b="1" dirty="0">
                <a:solidFill>
                  <a:srgbClr val="333F70"/>
                </a:solidFill>
                <a:latin typeface="Unbounded Bold" pitchFamily="34" charset="0"/>
                <a:ea typeface="Unbounded Bold" pitchFamily="34" charset="-122"/>
                <a:cs typeface="Unbounded Bold" pitchFamily="34" charset="-120"/>
              </a:rPr>
              <a:t>Validated Prototype, Ready for Pilot</a:t>
            </a:r>
            <a:endParaRPr lang="en-US" sz="3850" dirty="0"/>
          </a:p>
        </p:txBody>
      </p:sp>
      <p:sp>
        <p:nvSpPr>
          <p:cNvPr id="3" name="Text 1"/>
          <p:cNvSpPr/>
          <p:nvPr/>
        </p:nvSpPr>
        <p:spPr>
          <a:xfrm>
            <a:off x="692706" y="1915597"/>
            <a:ext cx="3428405" cy="309205"/>
          </a:xfrm>
          <a:prstGeom prst="rect">
            <a:avLst/>
          </a:prstGeom>
          <a:noFill/>
          <a:ln/>
        </p:spPr>
        <p:txBody>
          <a:bodyPr wrap="none" lIns="0" tIns="0" rIns="0" bIns="0" rtlCol="0" anchor="t"/>
          <a:lstStyle/>
          <a:p>
            <a:pPr marL="0" indent="0" algn="l">
              <a:lnSpc>
                <a:spcPts val="2400"/>
              </a:lnSpc>
              <a:buNone/>
            </a:pPr>
            <a:r>
              <a:rPr lang="en-US" sz="1900" b="1" dirty="0">
                <a:solidFill>
                  <a:srgbClr val="333F70"/>
                </a:solidFill>
                <a:latin typeface="Unbounded Bold" pitchFamily="34" charset="0"/>
                <a:ea typeface="Unbounded Bold" pitchFamily="34" charset="-122"/>
                <a:cs typeface="Unbounded Bold" pitchFamily="34" charset="-120"/>
              </a:rPr>
              <a:t>Interactive Noise Map</a:t>
            </a:r>
            <a:endParaRPr lang="en-US" sz="1900" dirty="0"/>
          </a:p>
        </p:txBody>
      </p:sp>
      <p:sp>
        <p:nvSpPr>
          <p:cNvPr id="4" name="Text 2"/>
          <p:cNvSpPr/>
          <p:nvPr/>
        </p:nvSpPr>
        <p:spPr>
          <a:xfrm>
            <a:off x="692706" y="2343507"/>
            <a:ext cx="4250055" cy="949762"/>
          </a:xfrm>
          <a:prstGeom prst="rect">
            <a:avLst/>
          </a:prstGeom>
          <a:noFill/>
          <a:ln/>
        </p:spPr>
        <p:txBody>
          <a:bodyPr wrap="square" lIns="0" tIns="0" rIns="0" bIns="0" rtlCol="0" anchor="t"/>
          <a:lstStyle/>
          <a:p>
            <a:pPr marL="0" indent="0" algn="l">
              <a:lnSpc>
                <a:spcPts val="2450"/>
              </a:lnSpc>
              <a:buNone/>
            </a:pPr>
            <a:r>
              <a:rPr lang="en-US" sz="1550" dirty="0">
                <a:solidFill>
                  <a:srgbClr val="333F70"/>
                </a:solidFill>
                <a:latin typeface="Open Sans" pitchFamily="34" charset="0"/>
                <a:ea typeface="Open Sans" pitchFamily="34" charset="-122"/>
                <a:cs typeface="Open Sans" pitchFamily="34" charset="-120"/>
              </a:rPr>
              <a:t>Heatmap visualisation with venue markers, average noise levels, user ratings, and time-based filtering</a:t>
            </a:r>
            <a:endParaRPr lang="en-US" sz="1550" dirty="0"/>
          </a:p>
        </p:txBody>
      </p:sp>
      <p:sp>
        <p:nvSpPr>
          <p:cNvPr id="5" name="Text 3"/>
          <p:cNvSpPr/>
          <p:nvPr/>
        </p:nvSpPr>
        <p:spPr>
          <a:xfrm>
            <a:off x="5190173" y="1915597"/>
            <a:ext cx="3280529" cy="309205"/>
          </a:xfrm>
          <a:prstGeom prst="rect">
            <a:avLst/>
          </a:prstGeom>
          <a:noFill/>
          <a:ln/>
        </p:spPr>
        <p:txBody>
          <a:bodyPr wrap="none" lIns="0" tIns="0" rIns="0" bIns="0" rtlCol="0" anchor="t"/>
          <a:lstStyle/>
          <a:p>
            <a:pPr marL="0" indent="0" algn="l">
              <a:lnSpc>
                <a:spcPts val="2400"/>
              </a:lnSpc>
              <a:buNone/>
            </a:pPr>
            <a:r>
              <a:rPr lang="en-US" sz="1900" b="1" dirty="0">
                <a:solidFill>
                  <a:srgbClr val="333F70"/>
                </a:solidFill>
                <a:latin typeface="Unbounded Bold" pitchFamily="34" charset="0"/>
                <a:ea typeface="Unbounded Bold" pitchFamily="34" charset="-122"/>
                <a:cs typeface="Unbounded Bold" pitchFamily="34" charset="-120"/>
              </a:rPr>
              <a:t>$HUSH Token Launch</a:t>
            </a:r>
            <a:endParaRPr lang="en-US" sz="1900" dirty="0"/>
          </a:p>
        </p:txBody>
      </p:sp>
      <p:sp>
        <p:nvSpPr>
          <p:cNvPr id="6" name="Text 4"/>
          <p:cNvSpPr/>
          <p:nvPr/>
        </p:nvSpPr>
        <p:spPr>
          <a:xfrm>
            <a:off x="5190173" y="2343507"/>
            <a:ext cx="4250055" cy="949762"/>
          </a:xfrm>
          <a:prstGeom prst="rect">
            <a:avLst/>
          </a:prstGeom>
          <a:noFill/>
          <a:ln/>
        </p:spPr>
        <p:txBody>
          <a:bodyPr wrap="square" lIns="0" tIns="0" rIns="0" bIns="0" rtlCol="0" anchor="t"/>
          <a:lstStyle/>
          <a:p>
            <a:pPr marL="0" indent="0" algn="l">
              <a:lnSpc>
                <a:spcPts val="2450"/>
              </a:lnSpc>
              <a:buNone/>
            </a:pPr>
            <a:r>
              <a:rPr lang="en-US" sz="1550" b="1" dirty="0">
                <a:solidFill>
                  <a:srgbClr val="26A688"/>
                </a:solidFill>
                <a:latin typeface="Open Sans" pitchFamily="34" charset="0"/>
                <a:ea typeface="Open Sans" pitchFamily="34" charset="-122"/>
                <a:cs typeface="Open Sans" pitchFamily="34" charset="-120"/>
              </a:rPr>
              <a:t>Successfully launched on Mainnet</a:t>
            </a:r>
            <a:r>
              <a:rPr lang="en-US" sz="1550" dirty="0">
                <a:solidFill>
                  <a:srgbClr val="333F70"/>
                </a:solidFill>
                <a:latin typeface="Open Sans" pitchFamily="34" charset="0"/>
                <a:ea typeface="Open Sans" pitchFamily="34" charset="-122"/>
                <a:cs typeface="Open Sans" pitchFamily="34" charset="-120"/>
              </a:rPr>
              <a:t> with HTS NFT collection and smart contract managing token with full deployment support</a:t>
            </a:r>
            <a:endParaRPr lang="en-US" sz="1550" dirty="0"/>
          </a:p>
        </p:txBody>
      </p:sp>
      <p:sp>
        <p:nvSpPr>
          <p:cNvPr id="7" name="Text 5"/>
          <p:cNvSpPr/>
          <p:nvPr/>
        </p:nvSpPr>
        <p:spPr>
          <a:xfrm>
            <a:off x="9687639" y="1915597"/>
            <a:ext cx="3604617" cy="309205"/>
          </a:xfrm>
          <a:prstGeom prst="rect">
            <a:avLst/>
          </a:prstGeom>
          <a:noFill/>
          <a:ln/>
        </p:spPr>
        <p:txBody>
          <a:bodyPr wrap="none" lIns="0" tIns="0" rIns="0" bIns="0" rtlCol="0" anchor="t"/>
          <a:lstStyle/>
          <a:p>
            <a:pPr marL="0" indent="0" algn="l">
              <a:lnSpc>
                <a:spcPts val="2400"/>
              </a:lnSpc>
              <a:buNone/>
            </a:pPr>
            <a:r>
              <a:rPr lang="en-US" sz="1900" b="1" dirty="0">
                <a:solidFill>
                  <a:srgbClr val="333F70"/>
                </a:solidFill>
                <a:latin typeface="Unbounded Bold" pitchFamily="34" charset="0"/>
                <a:ea typeface="Unbounded Bold" pitchFamily="34" charset="-122"/>
                <a:cs typeface="Unbounded Bold" pitchFamily="34" charset="-120"/>
              </a:rPr>
              <a:t>AI Classification Model</a:t>
            </a:r>
            <a:endParaRPr lang="en-US" sz="1900" dirty="0"/>
          </a:p>
        </p:txBody>
      </p:sp>
      <p:sp>
        <p:nvSpPr>
          <p:cNvPr id="8" name="Text 6"/>
          <p:cNvSpPr/>
          <p:nvPr/>
        </p:nvSpPr>
        <p:spPr>
          <a:xfrm>
            <a:off x="9687639" y="2343507"/>
            <a:ext cx="4250055" cy="949762"/>
          </a:xfrm>
          <a:prstGeom prst="rect">
            <a:avLst/>
          </a:prstGeom>
          <a:noFill/>
          <a:ln/>
        </p:spPr>
        <p:txBody>
          <a:bodyPr wrap="square" lIns="0" tIns="0" rIns="0" bIns="0" rtlCol="0" anchor="t"/>
          <a:lstStyle/>
          <a:p>
            <a:pPr marL="0" indent="0" algn="l">
              <a:lnSpc>
                <a:spcPts val="2450"/>
              </a:lnSpc>
              <a:buNone/>
            </a:pPr>
            <a:r>
              <a:rPr lang="en-US" sz="1550" dirty="0">
                <a:solidFill>
                  <a:srgbClr val="333F70"/>
                </a:solidFill>
                <a:latin typeface="Open Sans" pitchFamily="34" charset="0"/>
                <a:ea typeface="Open Sans" pitchFamily="34" charset="-122"/>
                <a:cs typeface="Open Sans" pitchFamily="34" charset="-120"/>
              </a:rPr>
              <a:t>Built and classifying noise into Quiet/Moderate/Loud categories with high accuracy</a:t>
            </a:r>
            <a:endParaRPr lang="en-US" sz="1550" dirty="0"/>
          </a:p>
        </p:txBody>
      </p:sp>
      <p:sp>
        <p:nvSpPr>
          <p:cNvPr id="9" name="Text 7"/>
          <p:cNvSpPr/>
          <p:nvPr/>
        </p:nvSpPr>
        <p:spPr>
          <a:xfrm>
            <a:off x="2724745" y="4802386"/>
            <a:ext cx="2434590" cy="494824"/>
          </a:xfrm>
          <a:prstGeom prst="rect">
            <a:avLst/>
          </a:prstGeom>
          <a:noFill/>
          <a:ln/>
        </p:spPr>
        <p:txBody>
          <a:bodyPr wrap="none" lIns="0" tIns="0" rIns="0" bIns="0" rtlCol="0" anchor="t"/>
          <a:lstStyle/>
          <a:p>
            <a:pPr marL="0" indent="0" algn="ctr">
              <a:lnSpc>
                <a:spcPts val="3850"/>
              </a:lnSpc>
              <a:buNone/>
            </a:pPr>
            <a:r>
              <a:rPr lang="en-US" sz="3850" b="1" dirty="0">
                <a:solidFill>
                  <a:srgbClr val="333F70"/>
                </a:solidFill>
                <a:latin typeface="Unbounded Bold" pitchFamily="34" charset="0"/>
                <a:ea typeface="Unbounded Bold" pitchFamily="34" charset="-122"/>
                <a:cs typeface="Unbounded Bold" pitchFamily="34" charset="-120"/>
              </a:rPr>
              <a:t>100+</a:t>
            </a:r>
            <a:endParaRPr lang="en-US" sz="3850" dirty="0"/>
          </a:p>
        </p:txBody>
      </p:sp>
      <p:pic>
        <p:nvPicPr>
          <p:cNvPr id="10" name="Image 0" descr="preencoded.png"/>
          <p:cNvPicPr>
            <a:picLocks noChangeAspect="1"/>
          </p:cNvPicPr>
          <p:nvPr/>
        </p:nvPicPr>
        <p:blipFill>
          <a:blip r:embed="rId3"/>
          <a:stretch>
            <a:fillRect/>
          </a:stretch>
        </p:blipFill>
        <p:spPr>
          <a:xfrm>
            <a:off x="2457569" y="3565327"/>
            <a:ext cx="2969062" cy="2969062"/>
          </a:xfrm>
          <a:prstGeom prst="rect">
            <a:avLst/>
          </a:prstGeom>
        </p:spPr>
      </p:pic>
      <p:sp>
        <p:nvSpPr>
          <p:cNvPr id="11" name="Text 8"/>
          <p:cNvSpPr/>
          <p:nvPr/>
        </p:nvSpPr>
        <p:spPr>
          <a:xfrm>
            <a:off x="1983819" y="6781681"/>
            <a:ext cx="3916561" cy="309205"/>
          </a:xfrm>
          <a:prstGeom prst="rect">
            <a:avLst/>
          </a:prstGeom>
          <a:noFill/>
          <a:ln/>
        </p:spPr>
        <p:txBody>
          <a:bodyPr wrap="none" lIns="0" tIns="0" rIns="0" bIns="0" rtlCol="0" anchor="t"/>
          <a:lstStyle/>
          <a:p>
            <a:pPr marL="0" indent="0" algn="ctr">
              <a:lnSpc>
                <a:spcPts val="2400"/>
              </a:lnSpc>
              <a:buNone/>
            </a:pPr>
            <a:r>
              <a:rPr lang="en-US" sz="1900" b="1" dirty="0">
                <a:solidFill>
                  <a:srgbClr val="333F70"/>
                </a:solidFill>
                <a:latin typeface="Unbounded Bold" pitchFamily="34" charset="0"/>
                <a:ea typeface="Unbounded Bold" pitchFamily="34" charset="-122"/>
                <a:cs typeface="Unbounded Bold" pitchFamily="34" charset="-120"/>
              </a:rPr>
              <a:t>Community Contributors</a:t>
            </a:r>
            <a:endParaRPr lang="en-US" sz="1900" dirty="0"/>
          </a:p>
        </p:txBody>
      </p:sp>
      <p:sp>
        <p:nvSpPr>
          <p:cNvPr id="12" name="Text 9"/>
          <p:cNvSpPr/>
          <p:nvPr/>
        </p:nvSpPr>
        <p:spPr>
          <a:xfrm>
            <a:off x="692706" y="7209592"/>
            <a:ext cx="6498788" cy="316587"/>
          </a:xfrm>
          <a:prstGeom prst="rect">
            <a:avLst/>
          </a:prstGeom>
          <a:noFill/>
          <a:ln/>
        </p:spPr>
        <p:txBody>
          <a:bodyPr wrap="none" lIns="0" tIns="0" rIns="0" bIns="0" rtlCol="0" anchor="t"/>
          <a:lstStyle/>
          <a:p>
            <a:pPr marL="0" indent="0" algn="ctr">
              <a:lnSpc>
                <a:spcPts val="2450"/>
              </a:lnSpc>
              <a:buNone/>
            </a:pPr>
            <a:r>
              <a:rPr lang="en-US" sz="1550" dirty="0">
                <a:solidFill>
                  <a:srgbClr val="333F70"/>
                </a:solidFill>
                <a:latin typeface="Open Sans" pitchFamily="34" charset="0"/>
                <a:ea typeface="Open Sans" pitchFamily="34" charset="-122"/>
                <a:cs typeface="Open Sans" pitchFamily="34" charset="-120"/>
              </a:rPr>
              <a:t>Internal testers and feedback gathered during testing phase</a:t>
            </a:r>
            <a:endParaRPr lang="en-US" sz="1550" dirty="0"/>
          </a:p>
        </p:txBody>
      </p:sp>
      <p:sp>
        <p:nvSpPr>
          <p:cNvPr id="13" name="Text 10"/>
          <p:cNvSpPr/>
          <p:nvPr/>
        </p:nvSpPr>
        <p:spPr>
          <a:xfrm>
            <a:off x="9470946" y="4802386"/>
            <a:ext cx="2434590" cy="494824"/>
          </a:xfrm>
          <a:prstGeom prst="rect">
            <a:avLst/>
          </a:prstGeom>
          <a:noFill/>
          <a:ln/>
        </p:spPr>
        <p:txBody>
          <a:bodyPr wrap="none" lIns="0" tIns="0" rIns="0" bIns="0" rtlCol="0" anchor="t"/>
          <a:lstStyle/>
          <a:p>
            <a:pPr marL="0" indent="0" algn="ctr">
              <a:lnSpc>
                <a:spcPts val="3850"/>
              </a:lnSpc>
              <a:buNone/>
            </a:pPr>
            <a:r>
              <a:rPr lang="en-US" sz="3850" b="1" dirty="0">
                <a:solidFill>
                  <a:srgbClr val="333F70"/>
                </a:solidFill>
                <a:latin typeface="Unbounded Bold" pitchFamily="34" charset="0"/>
                <a:ea typeface="Unbounded Bold" pitchFamily="34" charset="-122"/>
                <a:cs typeface="Unbounded Bold" pitchFamily="34" charset="-120"/>
              </a:rPr>
              <a:t>100B+</a:t>
            </a:r>
            <a:endParaRPr lang="en-US" sz="3850" dirty="0"/>
          </a:p>
        </p:txBody>
      </p:sp>
      <p:pic>
        <p:nvPicPr>
          <p:cNvPr id="14" name="Image 1" descr="preencoded.png"/>
          <p:cNvPicPr>
            <a:picLocks noChangeAspect="1"/>
          </p:cNvPicPr>
          <p:nvPr/>
        </p:nvPicPr>
        <p:blipFill>
          <a:blip r:embed="rId3"/>
          <a:stretch>
            <a:fillRect/>
          </a:stretch>
        </p:blipFill>
        <p:spPr>
          <a:xfrm>
            <a:off x="9203769" y="3565327"/>
            <a:ext cx="2969062" cy="2969062"/>
          </a:xfrm>
          <a:prstGeom prst="rect">
            <a:avLst/>
          </a:prstGeom>
        </p:spPr>
      </p:pic>
      <p:sp>
        <p:nvSpPr>
          <p:cNvPr id="15" name="Text 11"/>
          <p:cNvSpPr/>
          <p:nvPr/>
        </p:nvSpPr>
        <p:spPr>
          <a:xfrm>
            <a:off x="9425226" y="6781681"/>
            <a:ext cx="2526149" cy="309205"/>
          </a:xfrm>
          <a:prstGeom prst="rect">
            <a:avLst/>
          </a:prstGeom>
          <a:noFill/>
          <a:ln/>
        </p:spPr>
        <p:txBody>
          <a:bodyPr wrap="none" lIns="0" tIns="0" rIns="0" bIns="0" rtlCol="0" anchor="t"/>
          <a:lstStyle/>
          <a:p>
            <a:pPr marL="0" indent="0" algn="ctr">
              <a:lnSpc>
                <a:spcPts val="2400"/>
              </a:lnSpc>
              <a:buNone/>
            </a:pPr>
            <a:r>
              <a:rPr lang="en-US" sz="1900" b="1" dirty="0">
                <a:solidFill>
                  <a:srgbClr val="333F70"/>
                </a:solidFill>
                <a:latin typeface="Unbounded Bold" pitchFamily="34" charset="0"/>
                <a:ea typeface="Unbounded Bold" pitchFamily="34" charset="-122"/>
                <a:cs typeface="Unbounded Bold" pitchFamily="34" charset="-120"/>
              </a:rPr>
              <a:t>Datasets Ready</a:t>
            </a:r>
            <a:endParaRPr lang="en-US" sz="1900" dirty="0"/>
          </a:p>
        </p:txBody>
      </p:sp>
      <p:sp>
        <p:nvSpPr>
          <p:cNvPr id="16" name="Text 12"/>
          <p:cNvSpPr/>
          <p:nvPr/>
        </p:nvSpPr>
        <p:spPr>
          <a:xfrm>
            <a:off x="7438906" y="7209592"/>
            <a:ext cx="6498788" cy="316587"/>
          </a:xfrm>
          <a:prstGeom prst="rect">
            <a:avLst/>
          </a:prstGeom>
          <a:noFill/>
          <a:ln/>
        </p:spPr>
        <p:txBody>
          <a:bodyPr wrap="none" lIns="0" tIns="0" rIns="0" bIns="0" rtlCol="0" anchor="t"/>
          <a:lstStyle/>
          <a:p>
            <a:pPr marL="0" indent="0" algn="ctr">
              <a:lnSpc>
                <a:spcPts val="2450"/>
              </a:lnSpc>
              <a:buNone/>
            </a:pPr>
            <a:r>
              <a:rPr lang="en-US" sz="1550" dirty="0">
                <a:solidFill>
                  <a:srgbClr val="333F70"/>
                </a:solidFill>
                <a:latin typeface="Open Sans" pitchFamily="34" charset="0"/>
                <a:ea typeface="Open Sans" pitchFamily="34" charset="-122"/>
                <a:cs typeface="Open Sans" pitchFamily="34" charset="-120"/>
              </a:rPr>
              <a:t>To be logged to Hedera Mainnet after hackathon/MVP phase</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06956" y="319683"/>
            <a:ext cx="6395918" cy="363379"/>
          </a:xfrm>
          <a:prstGeom prst="rect">
            <a:avLst/>
          </a:prstGeom>
          <a:noFill/>
          <a:ln/>
        </p:spPr>
        <p:txBody>
          <a:bodyPr wrap="none" lIns="0" tIns="0" rIns="0" bIns="0" rtlCol="0" anchor="t"/>
          <a:lstStyle/>
          <a:p>
            <a:pPr marL="0" indent="0" algn="l">
              <a:lnSpc>
                <a:spcPts val="2850"/>
              </a:lnSpc>
              <a:buNone/>
            </a:pPr>
            <a:r>
              <a:rPr lang="en-US" sz="2250" b="1" dirty="0">
                <a:solidFill>
                  <a:srgbClr val="333F70"/>
                </a:solidFill>
                <a:latin typeface="Unbounded Bold" pitchFamily="34" charset="0"/>
                <a:ea typeface="Unbounded Bold" pitchFamily="34" charset="-122"/>
                <a:cs typeface="Unbounded Bold" pitchFamily="34" charset="-120"/>
              </a:rPr>
              <a:t>Built in Ghana, Scaled for the World</a:t>
            </a:r>
            <a:endParaRPr lang="en-US" sz="2250" dirty="0"/>
          </a:p>
        </p:txBody>
      </p:sp>
      <p:pic>
        <p:nvPicPr>
          <p:cNvPr id="3" name="Image 0" descr="preencoded.png"/>
          <p:cNvPicPr>
            <a:picLocks noChangeAspect="1"/>
          </p:cNvPicPr>
          <p:nvPr/>
        </p:nvPicPr>
        <p:blipFill>
          <a:blip r:embed="rId3"/>
          <a:stretch>
            <a:fillRect/>
          </a:stretch>
        </p:blipFill>
        <p:spPr>
          <a:xfrm>
            <a:off x="406956" y="988219"/>
            <a:ext cx="4346287" cy="4600456"/>
          </a:xfrm>
          <a:prstGeom prst="rect">
            <a:avLst/>
          </a:prstGeom>
        </p:spPr>
      </p:pic>
      <p:pic>
        <p:nvPicPr>
          <p:cNvPr id="4" name="Image 1" descr="preencoded.png"/>
          <p:cNvPicPr>
            <a:picLocks noChangeAspect="1"/>
          </p:cNvPicPr>
          <p:nvPr/>
        </p:nvPicPr>
        <p:blipFill>
          <a:blip r:embed="rId4"/>
          <a:stretch>
            <a:fillRect/>
          </a:stretch>
        </p:blipFill>
        <p:spPr>
          <a:xfrm>
            <a:off x="5115520" y="988219"/>
            <a:ext cx="4360664" cy="4600456"/>
          </a:xfrm>
          <a:prstGeom prst="rect">
            <a:avLst/>
          </a:prstGeom>
        </p:spPr>
      </p:pic>
      <p:pic>
        <p:nvPicPr>
          <p:cNvPr id="5" name="Image 2" descr="preencoded.png"/>
          <p:cNvPicPr>
            <a:picLocks noChangeAspect="1"/>
          </p:cNvPicPr>
          <p:nvPr/>
        </p:nvPicPr>
        <p:blipFill>
          <a:blip r:embed="rId5"/>
          <a:stretch>
            <a:fillRect/>
          </a:stretch>
        </p:blipFill>
        <p:spPr>
          <a:xfrm>
            <a:off x="9822656" y="988219"/>
            <a:ext cx="4349166" cy="4600456"/>
          </a:xfrm>
          <a:prstGeom prst="rect">
            <a:avLst/>
          </a:prstGeom>
        </p:spPr>
      </p:pic>
      <p:sp>
        <p:nvSpPr>
          <p:cNvPr id="6" name="Shape 1"/>
          <p:cNvSpPr/>
          <p:nvPr/>
        </p:nvSpPr>
        <p:spPr>
          <a:xfrm>
            <a:off x="406956" y="5850136"/>
            <a:ext cx="4527947" cy="1127165"/>
          </a:xfrm>
          <a:prstGeom prst="roundRect">
            <a:avLst>
              <a:gd name="adj" fmla="val 4333"/>
            </a:avLst>
          </a:prstGeom>
          <a:solidFill>
            <a:srgbClr val="D6F5EE"/>
          </a:solidFill>
          <a:ln w="7620">
            <a:solidFill>
              <a:srgbClr val="BCDBD4"/>
            </a:solidFill>
            <a:prstDash val="solid"/>
          </a:ln>
        </p:spPr>
        <p:txBody>
          <a:bodyPr/>
          <a:lstStyle/>
          <a:p>
            <a:endParaRPr lang="en-US"/>
          </a:p>
        </p:txBody>
      </p:sp>
      <p:sp>
        <p:nvSpPr>
          <p:cNvPr id="7" name="Text 2"/>
          <p:cNvSpPr/>
          <p:nvPr/>
        </p:nvSpPr>
        <p:spPr>
          <a:xfrm>
            <a:off x="530781" y="5973961"/>
            <a:ext cx="1665803" cy="181689"/>
          </a:xfrm>
          <a:prstGeom prst="rect">
            <a:avLst/>
          </a:prstGeom>
          <a:noFill/>
          <a:ln/>
        </p:spPr>
        <p:txBody>
          <a:bodyPr wrap="none" lIns="0" tIns="0" rIns="0" bIns="0" rtlCol="0" anchor="t"/>
          <a:lstStyle/>
          <a:p>
            <a:pPr marL="0" indent="0" algn="l">
              <a:lnSpc>
                <a:spcPts val="1400"/>
              </a:lnSpc>
              <a:buNone/>
            </a:pPr>
            <a:r>
              <a:rPr lang="en-US" sz="1100" b="1" dirty="0">
                <a:solidFill>
                  <a:srgbClr val="333F70"/>
                </a:solidFill>
                <a:latin typeface="Unbounded Bold" pitchFamily="34" charset="0"/>
                <a:ea typeface="Unbounded Bold" pitchFamily="34" charset="-122"/>
                <a:cs typeface="Unbounded Bold" pitchFamily="34" charset="-120"/>
              </a:rPr>
              <a:t>Elkanah Ametsitsi</a:t>
            </a:r>
            <a:endParaRPr lang="en-US" sz="1100" dirty="0"/>
          </a:p>
        </p:txBody>
      </p:sp>
      <p:sp>
        <p:nvSpPr>
          <p:cNvPr id="8" name="Text 3"/>
          <p:cNvSpPr/>
          <p:nvPr/>
        </p:nvSpPr>
        <p:spPr>
          <a:xfrm>
            <a:off x="530781" y="6225421"/>
            <a:ext cx="4280297" cy="186095"/>
          </a:xfrm>
          <a:prstGeom prst="rect">
            <a:avLst/>
          </a:prstGeom>
          <a:noFill/>
          <a:ln/>
        </p:spPr>
        <p:txBody>
          <a:bodyPr wrap="none" lIns="0" tIns="0" rIns="0" bIns="0" rtlCol="0" anchor="t"/>
          <a:lstStyle/>
          <a:p>
            <a:pPr marL="0" indent="0" algn="l">
              <a:lnSpc>
                <a:spcPts val="1450"/>
              </a:lnSpc>
              <a:buNone/>
            </a:pPr>
            <a:r>
              <a:rPr lang="en-US" sz="900" b="1" dirty="0">
                <a:solidFill>
                  <a:srgbClr val="333F70"/>
                </a:solidFill>
                <a:latin typeface="Open Sans" pitchFamily="34" charset="0"/>
                <a:ea typeface="Open Sans" pitchFamily="34" charset="-122"/>
                <a:cs typeface="Open Sans" pitchFamily="34" charset="-120"/>
              </a:rPr>
              <a:t>Founder, Technical Lead</a:t>
            </a:r>
            <a:endParaRPr lang="en-US" sz="900" dirty="0"/>
          </a:p>
        </p:txBody>
      </p:sp>
      <p:sp>
        <p:nvSpPr>
          <p:cNvPr id="9" name="Text 4"/>
          <p:cNvSpPr/>
          <p:nvPr/>
        </p:nvSpPr>
        <p:spPr>
          <a:xfrm>
            <a:off x="530781" y="6481286"/>
            <a:ext cx="4280297" cy="186095"/>
          </a:xfrm>
          <a:prstGeom prst="rect">
            <a:avLst/>
          </a:prstGeom>
          <a:noFill/>
          <a:ln/>
        </p:spPr>
        <p:txBody>
          <a:bodyPr wrap="none" lIns="0" tIns="0" rIns="0" bIns="0" rtlCol="0" anchor="t"/>
          <a:lstStyle/>
          <a:p>
            <a:pPr marL="0" indent="0" algn="l">
              <a:lnSpc>
                <a:spcPts val="1450"/>
              </a:lnSpc>
              <a:buNone/>
            </a:pPr>
            <a:r>
              <a:rPr lang="en-US" sz="900" dirty="0">
                <a:solidFill>
                  <a:srgbClr val="333F70"/>
                </a:solidFill>
                <a:latin typeface="Open Sans" pitchFamily="34" charset="0"/>
                <a:ea typeface="Open Sans" pitchFamily="34" charset="-122"/>
                <a:cs typeface="Open Sans" pitchFamily="34" charset="-120"/>
              </a:rPr>
              <a:t>Expertise in blockchain architecture, on-chain analytics, and Web3 tokenomics</a:t>
            </a:r>
            <a:endParaRPr lang="en-US" sz="900" dirty="0"/>
          </a:p>
        </p:txBody>
      </p:sp>
      <p:sp>
        <p:nvSpPr>
          <p:cNvPr id="10" name="Shape 5"/>
          <p:cNvSpPr/>
          <p:nvPr/>
        </p:nvSpPr>
        <p:spPr>
          <a:xfrm>
            <a:off x="5051108" y="5850136"/>
            <a:ext cx="4528066" cy="1127165"/>
          </a:xfrm>
          <a:prstGeom prst="roundRect">
            <a:avLst>
              <a:gd name="adj" fmla="val 4333"/>
            </a:avLst>
          </a:prstGeom>
          <a:solidFill>
            <a:srgbClr val="D6F5EE"/>
          </a:solidFill>
          <a:ln w="7620">
            <a:solidFill>
              <a:srgbClr val="BCDBD4"/>
            </a:solidFill>
            <a:prstDash val="solid"/>
          </a:ln>
        </p:spPr>
        <p:txBody>
          <a:bodyPr/>
          <a:lstStyle/>
          <a:p>
            <a:endParaRPr lang="en-US"/>
          </a:p>
        </p:txBody>
      </p:sp>
      <p:sp>
        <p:nvSpPr>
          <p:cNvPr id="11" name="Text 6"/>
          <p:cNvSpPr/>
          <p:nvPr/>
        </p:nvSpPr>
        <p:spPr>
          <a:xfrm>
            <a:off x="5174933" y="5973961"/>
            <a:ext cx="1683544" cy="181689"/>
          </a:xfrm>
          <a:prstGeom prst="rect">
            <a:avLst/>
          </a:prstGeom>
          <a:noFill/>
          <a:ln/>
        </p:spPr>
        <p:txBody>
          <a:bodyPr wrap="none" lIns="0" tIns="0" rIns="0" bIns="0" rtlCol="0" anchor="t"/>
          <a:lstStyle/>
          <a:p>
            <a:pPr marL="0" indent="0" algn="l">
              <a:lnSpc>
                <a:spcPts val="1400"/>
              </a:lnSpc>
              <a:buNone/>
            </a:pPr>
            <a:r>
              <a:rPr lang="en-US" sz="1100" b="1" dirty="0">
                <a:solidFill>
                  <a:srgbClr val="333F70"/>
                </a:solidFill>
                <a:latin typeface="Unbounded Bold" pitchFamily="34" charset="0"/>
                <a:ea typeface="Unbounded Bold" pitchFamily="34" charset="-122"/>
                <a:cs typeface="Unbounded Bold" pitchFamily="34" charset="-120"/>
              </a:rPr>
              <a:t>Jeremiah Boateng</a:t>
            </a:r>
            <a:endParaRPr lang="en-US" sz="1100" dirty="0"/>
          </a:p>
        </p:txBody>
      </p:sp>
      <p:sp>
        <p:nvSpPr>
          <p:cNvPr id="12" name="Text 7"/>
          <p:cNvSpPr/>
          <p:nvPr/>
        </p:nvSpPr>
        <p:spPr>
          <a:xfrm>
            <a:off x="5174933" y="6225421"/>
            <a:ext cx="4280416" cy="186095"/>
          </a:xfrm>
          <a:prstGeom prst="rect">
            <a:avLst/>
          </a:prstGeom>
          <a:noFill/>
          <a:ln/>
        </p:spPr>
        <p:txBody>
          <a:bodyPr wrap="none" lIns="0" tIns="0" rIns="0" bIns="0" rtlCol="0" anchor="t"/>
          <a:lstStyle/>
          <a:p>
            <a:pPr marL="0" indent="0" algn="l">
              <a:lnSpc>
                <a:spcPts val="1450"/>
              </a:lnSpc>
              <a:buNone/>
            </a:pPr>
            <a:r>
              <a:rPr lang="en-US" sz="900" b="1" dirty="0">
                <a:solidFill>
                  <a:srgbClr val="333F70"/>
                </a:solidFill>
                <a:latin typeface="Open Sans" pitchFamily="34" charset="0"/>
                <a:ea typeface="Open Sans" pitchFamily="34" charset="-122"/>
                <a:cs typeface="Open Sans" pitchFamily="34" charset="-120"/>
              </a:rPr>
              <a:t>Smart Contract &amp; Web Developer</a:t>
            </a:r>
            <a:endParaRPr lang="en-US" sz="900" dirty="0"/>
          </a:p>
        </p:txBody>
      </p:sp>
      <p:sp>
        <p:nvSpPr>
          <p:cNvPr id="13" name="Text 8"/>
          <p:cNvSpPr/>
          <p:nvPr/>
        </p:nvSpPr>
        <p:spPr>
          <a:xfrm>
            <a:off x="5174933" y="6481286"/>
            <a:ext cx="4280416" cy="372189"/>
          </a:xfrm>
          <a:prstGeom prst="rect">
            <a:avLst/>
          </a:prstGeom>
          <a:noFill/>
          <a:ln/>
        </p:spPr>
        <p:txBody>
          <a:bodyPr wrap="square" lIns="0" tIns="0" rIns="0" bIns="0" rtlCol="0" anchor="t"/>
          <a:lstStyle/>
          <a:p>
            <a:pPr marL="0" indent="0" algn="l">
              <a:lnSpc>
                <a:spcPts val="1450"/>
              </a:lnSpc>
              <a:buNone/>
            </a:pPr>
            <a:r>
              <a:rPr lang="en-US" sz="900" dirty="0">
                <a:solidFill>
                  <a:srgbClr val="333F70"/>
                </a:solidFill>
                <a:latin typeface="Open Sans" pitchFamily="34" charset="0"/>
                <a:ea typeface="Open Sans" pitchFamily="34" charset="-122"/>
                <a:cs typeface="Open Sans" pitchFamily="34" charset="-120"/>
              </a:rPr>
              <a:t>Specialises in scalable smart contract systems and backend development for DApps</a:t>
            </a:r>
            <a:endParaRPr lang="en-US" sz="900" dirty="0"/>
          </a:p>
        </p:txBody>
      </p:sp>
      <p:sp>
        <p:nvSpPr>
          <p:cNvPr id="14" name="Shape 9"/>
          <p:cNvSpPr/>
          <p:nvPr/>
        </p:nvSpPr>
        <p:spPr>
          <a:xfrm>
            <a:off x="9695378" y="5850136"/>
            <a:ext cx="4528066" cy="1127165"/>
          </a:xfrm>
          <a:prstGeom prst="roundRect">
            <a:avLst>
              <a:gd name="adj" fmla="val 4333"/>
            </a:avLst>
          </a:prstGeom>
          <a:solidFill>
            <a:srgbClr val="D6F5EE"/>
          </a:solidFill>
          <a:ln w="7620">
            <a:solidFill>
              <a:srgbClr val="BCDBD4"/>
            </a:solidFill>
            <a:prstDash val="solid"/>
          </a:ln>
        </p:spPr>
        <p:txBody>
          <a:bodyPr/>
          <a:lstStyle/>
          <a:p>
            <a:endParaRPr lang="en-US"/>
          </a:p>
        </p:txBody>
      </p:sp>
      <p:sp>
        <p:nvSpPr>
          <p:cNvPr id="15" name="Text 10"/>
          <p:cNvSpPr/>
          <p:nvPr/>
        </p:nvSpPr>
        <p:spPr>
          <a:xfrm>
            <a:off x="9819203" y="5973961"/>
            <a:ext cx="1453515" cy="181689"/>
          </a:xfrm>
          <a:prstGeom prst="rect">
            <a:avLst/>
          </a:prstGeom>
          <a:noFill/>
          <a:ln/>
        </p:spPr>
        <p:txBody>
          <a:bodyPr wrap="none" lIns="0" tIns="0" rIns="0" bIns="0" rtlCol="0" anchor="t"/>
          <a:lstStyle/>
          <a:p>
            <a:pPr marL="0" indent="0" algn="l">
              <a:lnSpc>
                <a:spcPts val="1400"/>
              </a:lnSpc>
              <a:buNone/>
            </a:pPr>
            <a:r>
              <a:rPr lang="en-US" sz="1100" b="1" dirty="0">
                <a:solidFill>
                  <a:srgbClr val="333F70"/>
                </a:solidFill>
                <a:latin typeface="Unbounded Bold" pitchFamily="34" charset="0"/>
                <a:ea typeface="Unbounded Bold" pitchFamily="34" charset="-122"/>
                <a:cs typeface="Unbounded Bold" pitchFamily="34" charset="-120"/>
              </a:rPr>
              <a:t>Paul Botchwey</a:t>
            </a:r>
            <a:endParaRPr lang="en-US" sz="1100" dirty="0"/>
          </a:p>
        </p:txBody>
      </p:sp>
      <p:sp>
        <p:nvSpPr>
          <p:cNvPr id="16" name="Text 11"/>
          <p:cNvSpPr/>
          <p:nvPr/>
        </p:nvSpPr>
        <p:spPr>
          <a:xfrm>
            <a:off x="9819203" y="6225421"/>
            <a:ext cx="4280416" cy="186095"/>
          </a:xfrm>
          <a:prstGeom prst="rect">
            <a:avLst/>
          </a:prstGeom>
          <a:noFill/>
          <a:ln/>
        </p:spPr>
        <p:txBody>
          <a:bodyPr wrap="none" lIns="0" tIns="0" rIns="0" bIns="0" rtlCol="0" anchor="t"/>
          <a:lstStyle/>
          <a:p>
            <a:pPr marL="0" indent="0" algn="l">
              <a:lnSpc>
                <a:spcPts val="1450"/>
              </a:lnSpc>
              <a:buNone/>
            </a:pPr>
            <a:r>
              <a:rPr lang="en-US" sz="900" b="1" dirty="0">
                <a:solidFill>
                  <a:srgbClr val="333F70"/>
                </a:solidFill>
                <a:latin typeface="Open Sans" pitchFamily="34" charset="0"/>
                <a:ea typeface="Open Sans" pitchFamily="34" charset="-122"/>
                <a:cs typeface="Open Sans" pitchFamily="34" charset="-120"/>
              </a:rPr>
              <a:t>Mobile Application Developer</a:t>
            </a:r>
            <a:endParaRPr lang="en-US" sz="900" dirty="0"/>
          </a:p>
        </p:txBody>
      </p:sp>
      <p:sp>
        <p:nvSpPr>
          <p:cNvPr id="17" name="Text 12"/>
          <p:cNvSpPr/>
          <p:nvPr/>
        </p:nvSpPr>
        <p:spPr>
          <a:xfrm>
            <a:off x="9819203" y="6481286"/>
            <a:ext cx="4280416" cy="372189"/>
          </a:xfrm>
          <a:prstGeom prst="rect">
            <a:avLst/>
          </a:prstGeom>
          <a:noFill/>
          <a:ln/>
        </p:spPr>
        <p:txBody>
          <a:bodyPr wrap="square" lIns="0" tIns="0" rIns="0" bIns="0" rtlCol="0" anchor="t"/>
          <a:lstStyle/>
          <a:p>
            <a:pPr marL="0" indent="0" algn="l">
              <a:lnSpc>
                <a:spcPts val="1450"/>
              </a:lnSpc>
              <a:buNone/>
            </a:pPr>
            <a:r>
              <a:rPr lang="en-US" sz="900" dirty="0">
                <a:solidFill>
                  <a:srgbClr val="333F70"/>
                </a:solidFill>
                <a:latin typeface="Open Sans" pitchFamily="34" charset="0"/>
                <a:ea typeface="Open Sans" pitchFamily="34" charset="-122"/>
                <a:cs typeface="Open Sans" pitchFamily="34" charset="-120"/>
              </a:rPr>
              <a:t>3+ years ensuring seamless, reliable user experience for core data collection tool</a:t>
            </a:r>
            <a:endParaRPr lang="en-US" sz="900" dirty="0"/>
          </a:p>
        </p:txBody>
      </p:sp>
      <p:sp>
        <p:nvSpPr>
          <p:cNvPr id="18" name="Text 13"/>
          <p:cNvSpPr/>
          <p:nvPr/>
        </p:nvSpPr>
        <p:spPr>
          <a:xfrm>
            <a:off x="581382" y="7238762"/>
            <a:ext cx="13642062" cy="186095"/>
          </a:xfrm>
          <a:prstGeom prst="rect">
            <a:avLst/>
          </a:prstGeom>
          <a:noFill/>
          <a:ln/>
        </p:spPr>
        <p:txBody>
          <a:bodyPr wrap="none" lIns="0" tIns="0" rIns="0" bIns="0" rtlCol="0" anchor="t"/>
          <a:lstStyle/>
          <a:p>
            <a:pPr marL="0" indent="0" algn="l">
              <a:lnSpc>
                <a:spcPts val="1450"/>
              </a:lnSpc>
              <a:buNone/>
            </a:pPr>
            <a:r>
              <a:rPr lang="en-US" sz="900" dirty="0">
                <a:solidFill>
                  <a:srgbClr val="333F70"/>
                </a:solidFill>
                <a:latin typeface="Open Sans" pitchFamily="34" charset="0"/>
                <a:ea typeface="Open Sans" pitchFamily="34" charset="-122"/>
                <a:cs typeface="Open Sans" pitchFamily="34" charset="-120"/>
              </a:rPr>
              <a:t>Our team's local base in Ghana provides first-hand domain expertise in the exact type of rapid, unmonitored urban environments we are targeting. We are building a solution for a problem we personally experience.</a:t>
            </a:r>
            <a:endParaRPr lang="en-US" sz="900" dirty="0"/>
          </a:p>
        </p:txBody>
      </p:sp>
      <p:sp>
        <p:nvSpPr>
          <p:cNvPr id="19" name="Shape 14"/>
          <p:cNvSpPr/>
          <p:nvPr/>
        </p:nvSpPr>
        <p:spPr>
          <a:xfrm>
            <a:off x="406956" y="7108031"/>
            <a:ext cx="15240" cy="447556"/>
          </a:xfrm>
          <a:prstGeom prst="rect">
            <a:avLst/>
          </a:prstGeom>
          <a:solidFill>
            <a:srgbClr val="26A688"/>
          </a:solidFill>
          <a:ln/>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 name="Text 15"/>
          <p:cNvSpPr/>
          <p:nvPr/>
        </p:nvSpPr>
        <p:spPr>
          <a:xfrm>
            <a:off x="761153" y="1219201"/>
            <a:ext cx="3957901" cy="1051034"/>
          </a:xfrm>
          <a:prstGeom prst="rect">
            <a:avLst/>
          </a:prstGeom>
          <a:noFill/>
          <a:ln/>
        </p:spPr>
        <p:txBody>
          <a:bodyPr wrap="none" lIns="0" tIns="0" rIns="0" bIns="0" rtlCol="0" anchor="t"/>
          <a:lstStyle/>
          <a:p>
            <a:pPr marL="0" indent="0" algn="l">
              <a:lnSpc>
                <a:spcPts val="1700"/>
              </a:lnSpc>
              <a:buNone/>
            </a:pPr>
            <a:r>
              <a:rPr lang="en-US" sz="4000" b="1" dirty="0">
                <a:solidFill>
                  <a:srgbClr val="333F70"/>
                </a:solidFill>
                <a:latin typeface="Unbounded Bold" pitchFamily="34" charset="0"/>
                <a:ea typeface="Unbounded Bold" pitchFamily="34" charset="-122"/>
                <a:cs typeface="Unbounded Bold" pitchFamily="34" charset="-120"/>
              </a:rPr>
              <a:t>The Ask</a:t>
            </a:r>
            <a:endParaRPr lang="en-US" sz="4000" dirty="0"/>
          </a:p>
        </p:txBody>
      </p:sp>
      <p:sp>
        <p:nvSpPr>
          <p:cNvPr id="21" name="Text 16"/>
          <p:cNvSpPr/>
          <p:nvPr/>
        </p:nvSpPr>
        <p:spPr>
          <a:xfrm>
            <a:off x="698182" y="2270235"/>
            <a:ext cx="2041922" cy="714703"/>
          </a:xfrm>
          <a:prstGeom prst="rect">
            <a:avLst/>
          </a:prstGeom>
          <a:noFill/>
          <a:ln/>
        </p:spPr>
        <p:txBody>
          <a:bodyPr wrap="none" lIns="0" tIns="0" rIns="0" bIns="0" rtlCol="0" anchor="t"/>
          <a:lstStyle/>
          <a:p>
            <a:pPr marL="0" indent="0" algn="l">
              <a:lnSpc>
                <a:spcPts val="1400"/>
              </a:lnSpc>
              <a:buNone/>
            </a:pPr>
            <a:r>
              <a:rPr lang="en-US" sz="3200" b="1" dirty="0">
                <a:solidFill>
                  <a:srgbClr val="333F70"/>
                </a:solidFill>
                <a:latin typeface="Unbounded Bold" pitchFamily="34" charset="0"/>
                <a:ea typeface="Unbounded Bold" pitchFamily="34" charset="-122"/>
                <a:cs typeface="Unbounded Bold" pitchFamily="34" charset="-120"/>
              </a:rPr>
              <a:t>Funding: $70,000 USD</a:t>
            </a:r>
            <a:br>
              <a:rPr lang="en-US" sz="3200" b="1" dirty="0">
                <a:solidFill>
                  <a:srgbClr val="333F70"/>
                </a:solidFill>
                <a:latin typeface="Unbounded Bold" pitchFamily="34" charset="0"/>
                <a:ea typeface="Unbounded Bold" pitchFamily="34" charset="-122"/>
                <a:cs typeface="Unbounded Bold" pitchFamily="34" charset="-120"/>
              </a:rPr>
            </a:br>
            <a:endParaRPr lang="en-US" sz="3200" dirty="0"/>
          </a:p>
        </p:txBody>
      </p:sp>
      <p:sp>
        <p:nvSpPr>
          <p:cNvPr id="22" name="Text 17"/>
          <p:cNvSpPr/>
          <p:nvPr/>
        </p:nvSpPr>
        <p:spPr>
          <a:xfrm>
            <a:off x="698182" y="2775857"/>
            <a:ext cx="4369355" cy="2111829"/>
          </a:xfrm>
          <a:prstGeom prst="rect">
            <a:avLst/>
          </a:prstGeom>
          <a:noFill/>
          <a:ln/>
        </p:spPr>
        <p:txBody>
          <a:bodyPr wrap="none" lIns="0" tIns="0" rIns="0" bIns="0" rtlCol="0" anchor="t"/>
          <a:lstStyle/>
          <a:p>
            <a:pPr marL="0" indent="0" algn="l">
              <a:lnSpc>
                <a:spcPts val="1450"/>
              </a:lnSpc>
              <a:buNone/>
            </a:pPr>
            <a:r>
              <a:rPr lang="en-US" sz="2400" dirty="0">
                <a:solidFill>
                  <a:srgbClr val="333F70"/>
                </a:solidFill>
                <a:latin typeface="Open Sans" pitchFamily="34" charset="0"/>
                <a:ea typeface="Open Sans" pitchFamily="34" charset="-122"/>
                <a:cs typeface="Open Sans" pitchFamily="34" charset="-120"/>
              </a:rPr>
              <a:t>Cover initial infrastructure costs </a:t>
            </a:r>
            <a:br>
              <a:rPr lang="en-US" sz="2400" dirty="0">
                <a:solidFill>
                  <a:srgbClr val="333F70"/>
                </a:solidFill>
                <a:latin typeface="Open Sans" pitchFamily="34" charset="0"/>
                <a:ea typeface="Open Sans" pitchFamily="34" charset="-122"/>
                <a:cs typeface="Open Sans" pitchFamily="34" charset="-120"/>
              </a:rPr>
            </a:br>
            <a:br>
              <a:rPr lang="en-US" sz="2400" dirty="0">
                <a:solidFill>
                  <a:srgbClr val="333F70"/>
                </a:solidFill>
                <a:latin typeface="Open Sans" pitchFamily="34" charset="0"/>
                <a:ea typeface="Open Sans" pitchFamily="34" charset="-122"/>
                <a:cs typeface="Open Sans" pitchFamily="34" charset="-120"/>
              </a:rPr>
            </a:br>
            <a:r>
              <a:rPr lang="en-US" sz="2400" dirty="0">
                <a:solidFill>
                  <a:srgbClr val="333F70"/>
                </a:solidFill>
                <a:latin typeface="Open Sans" pitchFamily="34" charset="0"/>
                <a:ea typeface="Open Sans" pitchFamily="34" charset="-122"/>
                <a:cs typeface="Open Sans" pitchFamily="34" charset="-120"/>
              </a:rPr>
              <a:t>and expand pilot </a:t>
            </a:r>
            <a:r>
              <a:rPr lang="en-US" sz="2400" dirty="0" err="1">
                <a:solidFill>
                  <a:srgbClr val="333F70"/>
                </a:solidFill>
                <a:latin typeface="Open Sans" pitchFamily="34" charset="0"/>
                <a:ea typeface="Open Sans" pitchFamily="34" charset="-122"/>
                <a:cs typeface="Open Sans" pitchFamily="34" charset="-120"/>
              </a:rPr>
              <a:t>programme</a:t>
            </a:r>
            <a:r>
              <a:rPr lang="en-US" sz="2400" dirty="0">
                <a:solidFill>
                  <a:srgbClr val="333F70"/>
                </a:solidFill>
                <a:latin typeface="Open Sans" pitchFamily="34" charset="0"/>
                <a:ea typeface="Open Sans" pitchFamily="34" charset="-122"/>
                <a:cs typeface="Open Sans" pitchFamily="34" charset="-120"/>
              </a:rPr>
              <a:t> </a:t>
            </a:r>
            <a:br>
              <a:rPr lang="en-US" sz="2400" dirty="0">
                <a:solidFill>
                  <a:srgbClr val="333F70"/>
                </a:solidFill>
                <a:latin typeface="Open Sans" pitchFamily="34" charset="0"/>
                <a:ea typeface="Open Sans" pitchFamily="34" charset="-122"/>
                <a:cs typeface="Open Sans" pitchFamily="34" charset="-120"/>
              </a:rPr>
            </a:br>
            <a:br>
              <a:rPr lang="en-US" sz="2400" dirty="0">
                <a:solidFill>
                  <a:srgbClr val="333F70"/>
                </a:solidFill>
                <a:latin typeface="Open Sans" pitchFamily="34" charset="0"/>
                <a:ea typeface="Open Sans" pitchFamily="34" charset="-122"/>
                <a:cs typeface="Open Sans" pitchFamily="34" charset="-120"/>
              </a:rPr>
            </a:br>
            <a:r>
              <a:rPr lang="en-US" sz="2400" dirty="0">
                <a:solidFill>
                  <a:srgbClr val="333F70"/>
                </a:solidFill>
                <a:latin typeface="Open Sans" pitchFamily="34" charset="0"/>
                <a:ea typeface="Open Sans" pitchFamily="34" charset="-122"/>
                <a:cs typeface="Open Sans" pitchFamily="34" charset="-120"/>
              </a:rPr>
              <a:t>to other countries</a:t>
            </a:r>
            <a:endParaRPr lang="en-US" sz="2400" dirty="0"/>
          </a:p>
        </p:txBody>
      </p:sp>
      <p:sp>
        <p:nvSpPr>
          <p:cNvPr id="23" name="Text 18"/>
          <p:cNvSpPr/>
          <p:nvPr/>
        </p:nvSpPr>
        <p:spPr>
          <a:xfrm>
            <a:off x="5358764" y="2270235"/>
            <a:ext cx="1453515" cy="1365164"/>
          </a:xfrm>
          <a:prstGeom prst="rect">
            <a:avLst/>
          </a:prstGeom>
          <a:noFill/>
          <a:ln/>
        </p:spPr>
        <p:txBody>
          <a:bodyPr wrap="none" lIns="0" tIns="0" rIns="0" bIns="0" rtlCol="0" anchor="t"/>
          <a:lstStyle/>
          <a:p>
            <a:pPr marL="0" indent="0" algn="l">
              <a:lnSpc>
                <a:spcPts val="1400"/>
              </a:lnSpc>
              <a:buNone/>
            </a:pPr>
            <a:r>
              <a:rPr lang="en-US" sz="3200" b="1" dirty="0">
                <a:solidFill>
                  <a:srgbClr val="333F70"/>
                </a:solidFill>
                <a:latin typeface="Unbounded Bold" pitchFamily="34" charset="0"/>
                <a:ea typeface="Unbounded Bold" pitchFamily="34" charset="-122"/>
                <a:cs typeface="Unbounded Bold" pitchFamily="34" charset="-120"/>
              </a:rPr>
              <a:t>Mentorship</a:t>
            </a:r>
            <a:endParaRPr lang="en-US" sz="3200" dirty="0"/>
          </a:p>
        </p:txBody>
      </p:sp>
      <p:sp>
        <p:nvSpPr>
          <p:cNvPr id="24" name="Text 19"/>
          <p:cNvSpPr/>
          <p:nvPr/>
        </p:nvSpPr>
        <p:spPr>
          <a:xfrm>
            <a:off x="5358764" y="2572535"/>
            <a:ext cx="4369356" cy="1365163"/>
          </a:xfrm>
          <a:prstGeom prst="rect">
            <a:avLst/>
          </a:prstGeom>
          <a:noFill/>
          <a:ln/>
        </p:spPr>
        <p:txBody>
          <a:bodyPr wrap="none" lIns="0" tIns="0" rIns="0" bIns="0" rtlCol="0" anchor="t"/>
          <a:lstStyle/>
          <a:p>
            <a:pPr marL="0" indent="0" algn="l">
              <a:lnSpc>
                <a:spcPts val="1450"/>
              </a:lnSpc>
              <a:buNone/>
            </a:pPr>
            <a:r>
              <a:rPr lang="en-US" sz="2400" dirty="0">
                <a:solidFill>
                  <a:srgbClr val="333F70"/>
                </a:solidFill>
                <a:latin typeface="Open Sans" pitchFamily="34" charset="0"/>
                <a:ea typeface="Open Sans" pitchFamily="34" charset="-122"/>
                <a:cs typeface="Open Sans" pitchFamily="34" charset="-120"/>
              </a:rPr>
              <a:t>Guidance in regulatory </a:t>
            </a:r>
            <a:br>
              <a:rPr lang="en-US" sz="2400" dirty="0">
                <a:solidFill>
                  <a:srgbClr val="333F70"/>
                </a:solidFill>
                <a:latin typeface="Open Sans" pitchFamily="34" charset="0"/>
                <a:ea typeface="Open Sans" pitchFamily="34" charset="-122"/>
                <a:cs typeface="Open Sans" pitchFamily="34" charset="-120"/>
              </a:rPr>
            </a:br>
            <a:br>
              <a:rPr lang="en-US" sz="2400" dirty="0">
                <a:solidFill>
                  <a:srgbClr val="333F70"/>
                </a:solidFill>
                <a:latin typeface="Open Sans" pitchFamily="34" charset="0"/>
                <a:ea typeface="Open Sans" pitchFamily="34" charset="-122"/>
                <a:cs typeface="Open Sans" pitchFamily="34" charset="-120"/>
              </a:rPr>
            </a:br>
            <a:r>
              <a:rPr lang="en-US" sz="2400" dirty="0">
                <a:solidFill>
                  <a:srgbClr val="333F70"/>
                </a:solidFill>
                <a:latin typeface="Open Sans" pitchFamily="34" charset="0"/>
                <a:ea typeface="Open Sans" pitchFamily="34" charset="-122"/>
                <a:cs typeface="Open Sans" pitchFamily="34" charset="-120"/>
              </a:rPr>
              <a:t>compliance and B2G  </a:t>
            </a:r>
            <a:br>
              <a:rPr lang="en-US" sz="2400" dirty="0">
                <a:solidFill>
                  <a:srgbClr val="333F70"/>
                </a:solidFill>
                <a:latin typeface="Open Sans" pitchFamily="34" charset="0"/>
                <a:ea typeface="Open Sans" pitchFamily="34" charset="-122"/>
                <a:cs typeface="Open Sans" pitchFamily="34" charset="-120"/>
              </a:rPr>
            </a:br>
            <a:br>
              <a:rPr lang="en-US" sz="2400" dirty="0">
                <a:solidFill>
                  <a:srgbClr val="333F70"/>
                </a:solidFill>
                <a:latin typeface="Open Sans" pitchFamily="34" charset="0"/>
                <a:ea typeface="Open Sans" pitchFamily="34" charset="-122"/>
                <a:cs typeface="Open Sans" pitchFamily="34" charset="-120"/>
              </a:rPr>
            </a:br>
            <a:r>
              <a:rPr lang="en-US" sz="2400" dirty="0">
                <a:solidFill>
                  <a:srgbClr val="333F70"/>
                </a:solidFill>
                <a:latin typeface="Open Sans" pitchFamily="34" charset="0"/>
                <a:ea typeface="Open Sans" pitchFamily="34" charset="-122"/>
                <a:cs typeface="Open Sans" pitchFamily="34" charset="-120"/>
              </a:rPr>
              <a:t>and B2B sales strategy</a:t>
            </a:r>
            <a:endParaRPr lang="en-US" sz="2400" dirty="0"/>
          </a:p>
        </p:txBody>
      </p:sp>
      <p:sp>
        <p:nvSpPr>
          <p:cNvPr id="25" name="Text 20"/>
          <p:cNvSpPr/>
          <p:nvPr/>
        </p:nvSpPr>
        <p:spPr>
          <a:xfrm>
            <a:off x="10124450" y="2228784"/>
            <a:ext cx="1453515" cy="1533329"/>
          </a:xfrm>
          <a:prstGeom prst="rect">
            <a:avLst/>
          </a:prstGeom>
          <a:noFill/>
          <a:ln/>
        </p:spPr>
        <p:txBody>
          <a:bodyPr wrap="none" lIns="0" tIns="0" rIns="0" bIns="0" rtlCol="0" anchor="t"/>
          <a:lstStyle/>
          <a:p>
            <a:pPr marL="0" indent="0" algn="l">
              <a:lnSpc>
                <a:spcPts val="1400"/>
              </a:lnSpc>
              <a:buNone/>
            </a:pPr>
            <a:r>
              <a:rPr lang="en-US" sz="3200" b="1" dirty="0">
                <a:solidFill>
                  <a:srgbClr val="333F70"/>
                </a:solidFill>
                <a:latin typeface="Unbounded Bold" pitchFamily="34" charset="0"/>
                <a:ea typeface="Unbounded Bold" pitchFamily="34" charset="-122"/>
                <a:cs typeface="Unbounded Bold" pitchFamily="34" charset="-120"/>
              </a:rPr>
              <a:t>Introductions</a:t>
            </a:r>
            <a:endParaRPr lang="en-US" sz="3200" dirty="0"/>
          </a:p>
        </p:txBody>
      </p:sp>
      <p:sp>
        <p:nvSpPr>
          <p:cNvPr id="26" name="Text 21"/>
          <p:cNvSpPr/>
          <p:nvPr/>
        </p:nvSpPr>
        <p:spPr>
          <a:xfrm>
            <a:off x="10019347" y="2572535"/>
            <a:ext cx="4510326" cy="1551257"/>
          </a:xfrm>
          <a:prstGeom prst="rect">
            <a:avLst/>
          </a:prstGeom>
          <a:noFill/>
          <a:ln/>
        </p:spPr>
        <p:txBody>
          <a:bodyPr wrap="square" lIns="0" tIns="0" rIns="0" bIns="0" rtlCol="0" anchor="t"/>
          <a:lstStyle/>
          <a:p>
            <a:pPr marL="0" indent="0" algn="l">
              <a:lnSpc>
                <a:spcPts val="1450"/>
              </a:lnSpc>
              <a:buNone/>
            </a:pPr>
            <a:r>
              <a:rPr lang="en-US" sz="2400" dirty="0">
                <a:solidFill>
                  <a:srgbClr val="333F70"/>
                </a:solidFill>
                <a:latin typeface="Open Sans" pitchFamily="34" charset="0"/>
                <a:ea typeface="Open Sans" pitchFamily="34" charset="-122"/>
                <a:cs typeface="Open Sans" pitchFamily="34" charset="-120"/>
              </a:rPr>
              <a:t>Key connections to Hedera</a:t>
            </a:r>
            <a:br>
              <a:rPr lang="en-US" sz="2400" dirty="0">
                <a:solidFill>
                  <a:srgbClr val="333F70"/>
                </a:solidFill>
                <a:latin typeface="Open Sans" pitchFamily="34" charset="0"/>
                <a:ea typeface="Open Sans" pitchFamily="34" charset="-122"/>
                <a:cs typeface="Open Sans" pitchFamily="34" charset="-120"/>
              </a:rPr>
            </a:br>
            <a:br>
              <a:rPr lang="en-US" sz="2400" dirty="0">
                <a:solidFill>
                  <a:srgbClr val="333F70"/>
                </a:solidFill>
                <a:latin typeface="Open Sans" pitchFamily="34" charset="0"/>
                <a:ea typeface="Open Sans" pitchFamily="34" charset="-122"/>
                <a:cs typeface="Open Sans" pitchFamily="34" charset="-120"/>
              </a:rPr>
            </a:br>
            <a:r>
              <a:rPr lang="en-US" sz="2400" dirty="0">
                <a:solidFill>
                  <a:srgbClr val="333F70"/>
                </a:solidFill>
                <a:latin typeface="Open Sans" pitchFamily="34" charset="0"/>
                <a:ea typeface="Open Sans" pitchFamily="34" charset="-122"/>
                <a:cs typeface="Open Sans" pitchFamily="34" charset="-120"/>
              </a:rPr>
              <a:t> Council members focused on</a:t>
            </a:r>
            <a:br>
              <a:rPr lang="en-US" sz="2400" dirty="0">
                <a:solidFill>
                  <a:srgbClr val="333F70"/>
                </a:solidFill>
                <a:latin typeface="Open Sans" pitchFamily="34" charset="0"/>
                <a:ea typeface="Open Sans" pitchFamily="34" charset="-122"/>
                <a:cs typeface="Open Sans" pitchFamily="34" charset="-120"/>
              </a:rPr>
            </a:br>
            <a:br>
              <a:rPr lang="en-US" sz="2400" dirty="0">
                <a:solidFill>
                  <a:srgbClr val="333F70"/>
                </a:solidFill>
                <a:latin typeface="Open Sans" pitchFamily="34" charset="0"/>
                <a:ea typeface="Open Sans" pitchFamily="34" charset="-122"/>
                <a:cs typeface="Open Sans" pitchFamily="34" charset="-120"/>
              </a:rPr>
            </a:br>
            <a:r>
              <a:rPr lang="en-US" sz="2400" dirty="0">
                <a:solidFill>
                  <a:srgbClr val="333F70"/>
                </a:solidFill>
                <a:latin typeface="Open Sans" pitchFamily="34" charset="0"/>
                <a:ea typeface="Open Sans" pitchFamily="34" charset="-122"/>
                <a:cs typeface="Open Sans" pitchFamily="34" charset="-120"/>
              </a:rPr>
              <a:t> urban planning and</a:t>
            </a:r>
            <a:br>
              <a:rPr lang="en-US" sz="2400" dirty="0">
                <a:solidFill>
                  <a:srgbClr val="333F70"/>
                </a:solidFill>
                <a:latin typeface="Open Sans" pitchFamily="34" charset="0"/>
                <a:ea typeface="Open Sans" pitchFamily="34" charset="-122"/>
                <a:cs typeface="Open Sans" pitchFamily="34" charset="-120"/>
              </a:rPr>
            </a:br>
            <a:br>
              <a:rPr lang="en-US" sz="2400" dirty="0">
                <a:solidFill>
                  <a:srgbClr val="333F70"/>
                </a:solidFill>
                <a:latin typeface="Open Sans" pitchFamily="34" charset="0"/>
                <a:ea typeface="Open Sans" pitchFamily="34" charset="-122"/>
                <a:cs typeface="Open Sans" pitchFamily="34" charset="-120"/>
              </a:rPr>
            </a:br>
            <a:r>
              <a:rPr lang="en-US" sz="2400" dirty="0">
                <a:solidFill>
                  <a:srgbClr val="333F70"/>
                </a:solidFill>
                <a:latin typeface="Open Sans" pitchFamily="34" charset="0"/>
                <a:ea typeface="Open Sans" pitchFamily="34" charset="-122"/>
                <a:cs typeface="Open Sans" pitchFamily="34" charset="-120"/>
              </a:rPr>
              <a:t> sustainability</a:t>
            </a:r>
            <a:endParaRPr lang="en-US" sz="2400" dirty="0"/>
          </a:p>
        </p:txBody>
      </p:sp>
    </p:spTree>
    <p:extLst>
      <p:ext uri="{BB962C8B-B14F-4D97-AF65-F5344CB8AC3E}">
        <p14:creationId xmlns:p14="http://schemas.microsoft.com/office/powerpoint/2010/main" val="1680456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1497</Words>
  <Application>Microsoft Office PowerPoint</Application>
  <PresentationFormat>Custom</PresentationFormat>
  <Paragraphs>186</Paragraphs>
  <Slides>16</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Unbounded Bold</vt:lpstr>
      <vt:lpstr>Open Sans</vt:lpstr>
      <vt:lpstr>Arial</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Elish Eba</cp:lastModifiedBy>
  <cp:revision>4</cp:revision>
  <dcterms:created xsi:type="dcterms:W3CDTF">2025-10-30T13:28:33Z</dcterms:created>
  <dcterms:modified xsi:type="dcterms:W3CDTF">2025-10-30T19:17:11Z</dcterms:modified>
</cp:coreProperties>
</file>